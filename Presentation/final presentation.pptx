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257" r:id="rId4"/>
    <p:sldId id="258" r:id="rId5"/>
    <p:sldId id="261" r:id="rId6"/>
    <p:sldId id="263" r:id="rId7"/>
    <p:sldId id="305" r:id="rId8"/>
    <p:sldId id="310" r:id="rId9"/>
    <p:sldId id="306" r:id="rId10"/>
    <p:sldId id="259" r:id="rId11"/>
    <p:sldId id="271" r:id="rId12"/>
    <p:sldId id="303" r:id="rId13"/>
    <p:sldId id="312" r:id="rId14"/>
    <p:sldId id="314" r:id="rId15"/>
    <p:sldId id="315" r:id="rId16"/>
    <p:sldId id="318" r:id="rId17"/>
    <p:sldId id="316" r:id="rId18"/>
    <p:sldId id="317" r:id="rId19"/>
    <p:sldId id="313" r:id="rId20"/>
    <p:sldId id="319" r:id="rId21"/>
    <p:sldId id="325" r:id="rId22"/>
    <p:sldId id="326" r:id="rId23"/>
    <p:sldId id="320" r:id="rId24"/>
    <p:sldId id="324" r:id="rId25"/>
    <p:sldId id="327" r:id="rId26"/>
    <p:sldId id="328" r:id="rId27"/>
    <p:sldId id="321" r:id="rId28"/>
    <p:sldId id="331" r:id="rId29"/>
    <p:sldId id="311" r:id="rId30"/>
    <p:sldId id="330" r:id="rId31"/>
    <p:sldId id="290" r:id="rId32"/>
    <p:sldId id="301" r:id="rId3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2" autoAdjust="0"/>
    <p:restoredTop sz="82082" autoAdjust="0"/>
  </p:normalViewPr>
  <p:slideViewPr>
    <p:cSldViewPr snapToGrid="0">
      <p:cViewPr varScale="1">
        <p:scale>
          <a:sx n="91" d="100"/>
          <a:sy n="91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487667-C75F-4408-AE23-36213C1E1B3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0AA39C-50F1-42EE-82BD-538835A2A7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1. Introduction</a:t>
          </a:r>
        </a:p>
      </dgm:t>
    </dgm:pt>
    <dgm:pt modelId="{33B334D0-BD55-4B0D-A71A-0B68014BBBD1}" type="parTrans" cxnId="{A29464D3-F99F-40A0-B483-33434F161DFF}">
      <dgm:prSet/>
      <dgm:spPr/>
      <dgm:t>
        <a:bodyPr/>
        <a:lstStyle/>
        <a:p>
          <a:endParaRPr lang="en-US" sz="1800"/>
        </a:p>
      </dgm:t>
    </dgm:pt>
    <dgm:pt modelId="{82A83298-CC8B-43FC-BA9B-B804E53ABEC3}" type="sibTrans" cxnId="{A29464D3-F99F-40A0-B483-33434F161DFF}">
      <dgm:prSet/>
      <dgm:spPr/>
      <dgm:t>
        <a:bodyPr/>
        <a:lstStyle/>
        <a:p>
          <a:endParaRPr lang="en-US" sz="1800"/>
        </a:p>
      </dgm:t>
    </dgm:pt>
    <dgm:pt modelId="{E6A01C9A-B680-4AEC-83A9-4AE06EE500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3. Data Exploration </a:t>
          </a:r>
        </a:p>
      </dgm:t>
    </dgm:pt>
    <dgm:pt modelId="{08D36A85-7B1C-4B5E-9609-332A346A5BAB}" type="parTrans" cxnId="{44075815-3BD0-4A89-A826-0CD4736C9ADA}">
      <dgm:prSet/>
      <dgm:spPr/>
      <dgm:t>
        <a:bodyPr/>
        <a:lstStyle/>
        <a:p>
          <a:endParaRPr lang="en-US" sz="1800"/>
        </a:p>
      </dgm:t>
    </dgm:pt>
    <dgm:pt modelId="{FE20FAD7-B842-488C-94E1-B9E3ED5FF515}" type="sibTrans" cxnId="{44075815-3BD0-4A89-A826-0CD4736C9ADA}">
      <dgm:prSet/>
      <dgm:spPr/>
      <dgm:t>
        <a:bodyPr/>
        <a:lstStyle/>
        <a:p>
          <a:endParaRPr lang="en-US" sz="1800"/>
        </a:p>
      </dgm:t>
    </dgm:pt>
    <dgm:pt modelId="{7D3A8DDC-99CF-4BD7-914C-33397624DB3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dirty="0"/>
            <a:t>4. Features Extraction</a:t>
          </a:r>
          <a:endParaRPr lang="en-US" sz="1800" dirty="0"/>
        </a:p>
      </dgm:t>
    </dgm:pt>
    <dgm:pt modelId="{A4B5D6E8-AC30-48F0-95A6-B2EE7721EE26}" type="parTrans" cxnId="{7C442B01-1FA3-4545-AEC2-0C87B571A5B6}">
      <dgm:prSet/>
      <dgm:spPr/>
      <dgm:t>
        <a:bodyPr/>
        <a:lstStyle/>
        <a:p>
          <a:endParaRPr lang="en-US" sz="1800"/>
        </a:p>
      </dgm:t>
    </dgm:pt>
    <dgm:pt modelId="{CE51D7FB-FF43-4699-B0DC-9848334A66A0}" type="sibTrans" cxnId="{7C442B01-1FA3-4545-AEC2-0C87B571A5B6}">
      <dgm:prSet/>
      <dgm:spPr/>
      <dgm:t>
        <a:bodyPr/>
        <a:lstStyle/>
        <a:p>
          <a:endParaRPr lang="en-US" sz="1800"/>
        </a:p>
      </dgm:t>
    </dgm:pt>
    <dgm:pt modelId="{90DD17D5-7831-42A6-A50E-4261B70CC9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dirty="0"/>
            <a:t>5. </a:t>
          </a:r>
          <a:r>
            <a:rPr lang="en-US" sz="1800" dirty="0"/>
            <a:t>WSI Embedding Optimization</a:t>
          </a:r>
        </a:p>
      </dgm:t>
    </dgm:pt>
    <dgm:pt modelId="{957E82B5-2694-4A0A-A4C6-3B93FF562452}" type="parTrans" cxnId="{C631E28C-736A-447B-930C-3BF863BA22FD}">
      <dgm:prSet/>
      <dgm:spPr/>
      <dgm:t>
        <a:bodyPr/>
        <a:lstStyle/>
        <a:p>
          <a:endParaRPr lang="en-US" sz="1800"/>
        </a:p>
      </dgm:t>
    </dgm:pt>
    <dgm:pt modelId="{B0672D3E-F598-48DE-B950-9D364107386E}" type="sibTrans" cxnId="{C631E28C-736A-447B-930C-3BF863BA22FD}">
      <dgm:prSet/>
      <dgm:spPr/>
      <dgm:t>
        <a:bodyPr/>
        <a:lstStyle/>
        <a:p>
          <a:endParaRPr lang="en-US" sz="1800"/>
        </a:p>
      </dgm:t>
    </dgm:pt>
    <dgm:pt modelId="{54C394F3-9C8F-4FC6-B890-FED485791A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dirty="0"/>
            <a:t>6. Data Fusion</a:t>
          </a:r>
          <a:endParaRPr lang="en-US" sz="1800" dirty="0"/>
        </a:p>
      </dgm:t>
    </dgm:pt>
    <dgm:pt modelId="{EA6F63C1-EFD6-4D2F-932C-2E1A4714691F}" type="parTrans" cxnId="{090590EF-E622-424A-9D2A-EC1B1454A23D}">
      <dgm:prSet/>
      <dgm:spPr/>
      <dgm:t>
        <a:bodyPr/>
        <a:lstStyle/>
        <a:p>
          <a:endParaRPr lang="en-US" sz="1800"/>
        </a:p>
      </dgm:t>
    </dgm:pt>
    <dgm:pt modelId="{153EE80A-5848-4B52-BCDC-44054CC98DA5}" type="sibTrans" cxnId="{090590EF-E622-424A-9D2A-EC1B1454A23D}">
      <dgm:prSet/>
      <dgm:spPr/>
      <dgm:t>
        <a:bodyPr/>
        <a:lstStyle/>
        <a:p>
          <a:endParaRPr lang="en-US" sz="1800"/>
        </a:p>
      </dgm:t>
    </dgm:pt>
    <dgm:pt modelId="{0E9185AE-9101-4E70-9AA3-2F934EB18F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7. Results</a:t>
          </a:r>
        </a:p>
      </dgm:t>
    </dgm:pt>
    <dgm:pt modelId="{64A32345-C450-4AFC-8DE5-86CD343292AC}" type="parTrans" cxnId="{BFC2FEBB-CE7C-4B50-A417-4E2FF2A37567}">
      <dgm:prSet/>
      <dgm:spPr/>
      <dgm:t>
        <a:bodyPr/>
        <a:lstStyle/>
        <a:p>
          <a:endParaRPr lang="en-IL" sz="1800"/>
        </a:p>
      </dgm:t>
    </dgm:pt>
    <dgm:pt modelId="{0919DB6B-29C3-4182-9511-4755054196A6}" type="sibTrans" cxnId="{BFC2FEBB-CE7C-4B50-A417-4E2FF2A37567}">
      <dgm:prSet/>
      <dgm:spPr/>
      <dgm:t>
        <a:bodyPr/>
        <a:lstStyle/>
        <a:p>
          <a:endParaRPr lang="en-IL" sz="1800"/>
        </a:p>
      </dgm:t>
    </dgm:pt>
    <dgm:pt modelId="{B42C3B4F-D6AF-4E84-9E58-7294EEDA23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8. Conclusion and future research directions</a:t>
          </a:r>
        </a:p>
      </dgm:t>
    </dgm:pt>
    <dgm:pt modelId="{C2ED21C9-43EF-4391-9FB1-5A76E9720697}" type="parTrans" cxnId="{A15E0C67-AFCC-4A4B-8380-1CB26580F5E2}">
      <dgm:prSet/>
      <dgm:spPr/>
      <dgm:t>
        <a:bodyPr/>
        <a:lstStyle/>
        <a:p>
          <a:endParaRPr lang="en-IL" sz="1800"/>
        </a:p>
      </dgm:t>
    </dgm:pt>
    <dgm:pt modelId="{EE789556-BF7B-40DF-84F3-E51DD996712D}" type="sibTrans" cxnId="{A15E0C67-AFCC-4A4B-8380-1CB26580F5E2}">
      <dgm:prSet/>
      <dgm:spPr/>
      <dgm:t>
        <a:bodyPr/>
        <a:lstStyle/>
        <a:p>
          <a:endParaRPr lang="en-IL" sz="1800"/>
        </a:p>
      </dgm:t>
    </dgm:pt>
    <dgm:pt modelId="{89930A99-CCB4-4EFB-BF9F-AF28B4267A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2. Data Set </a:t>
          </a:r>
        </a:p>
      </dgm:t>
    </dgm:pt>
    <dgm:pt modelId="{14AC3765-0815-435C-BA83-E32F774B35CD}" type="parTrans" cxnId="{86C39231-6734-41FC-ACB1-BE768A12BA19}">
      <dgm:prSet/>
      <dgm:spPr/>
      <dgm:t>
        <a:bodyPr/>
        <a:lstStyle/>
        <a:p>
          <a:endParaRPr lang="en-IL" sz="1800"/>
        </a:p>
      </dgm:t>
    </dgm:pt>
    <dgm:pt modelId="{3EE8B350-B202-4368-A716-A574134DE479}" type="sibTrans" cxnId="{86C39231-6734-41FC-ACB1-BE768A12BA19}">
      <dgm:prSet/>
      <dgm:spPr/>
      <dgm:t>
        <a:bodyPr/>
        <a:lstStyle/>
        <a:p>
          <a:endParaRPr lang="en-IL" sz="1800"/>
        </a:p>
      </dgm:t>
    </dgm:pt>
    <dgm:pt modelId="{03068A6E-7920-43E8-AFDF-0543922FAEED}" type="pres">
      <dgm:prSet presAssocID="{7B487667-C75F-4408-AE23-36213C1E1B3A}" presName="root" presStyleCnt="0">
        <dgm:presLayoutVars>
          <dgm:dir/>
          <dgm:resizeHandles val="exact"/>
        </dgm:presLayoutVars>
      </dgm:prSet>
      <dgm:spPr/>
    </dgm:pt>
    <dgm:pt modelId="{CFC4503B-5A91-4B91-8C45-51D21B3284E8}" type="pres">
      <dgm:prSet presAssocID="{210AA39C-50F1-42EE-82BD-538835A2A7DE}" presName="compNode" presStyleCnt="0"/>
      <dgm:spPr/>
    </dgm:pt>
    <dgm:pt modelId="{6625B4A1-3405-4948-B682-A5CB1E992021}" type="pres">
      <dgm:prSet presAssocID="{210AA39C-50F1-42EE-82BD-538835A2A7DE}" presName="bgRect" presStyleLbl="bgShp" presStyleIdx="0" presStyleCnt="8" custLinFactY="-49408" custLinFactNeighborY="-100000"/>
      <dgm:spPr>
        <a:solidFill>
          <a:schemeClr val="bg1">
            <a:lumMod val="85000"/>
          </a:schemeClr>
        </a:solidFill>
      </dgm:spPr>
    </dgm:pt>
    <dgm:pt modelId="{D2B8CD52-BB7E-4677-9389-FACE7C71D064}" type="pres">
      <dgm:prSet presAssocID="{210AA39C-50F1-42EE-82BD-538835A2A7DE}" presName="iconRect" presStyleLbl="node1" presStyleIdx="0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with solid fill"/>
        </a:ext>
      </dgm:extLst>
    </dgm:pt>
    <dgm:pt modelId="{7A5F8036-C021-404D-8F33-1C7D527183D3}" type="pres">
      <dgm:prSet presAssocID="{210AA39C-50F1-42EE-82BD-538835A2A7DE}" presName="spaceRect" presStyleCnt="0"/>
      <dgm:spPr/>
    </dgm:pt>
    <dgm:pt modelId="{21D2A21C-3481-4289-A3E0-A55754A9A49F}" type="pres">
      <dgm:prSet presAssocID="{210AA39C-50F1-42EE-82BD-538835A2A7DE}" presName="parTx" presStyleLbl="revTx" presStyleIdx="0" presStyleCnt="8">
        <dgm:presLayoutVars>
          <dgm:chMax val="0"/>
          <dgm:chPref val="0"/>
        </dgm:presLayoutVars>
      </dgm:prSet>
      <dgm:spPr/>
    </dgm:pt>
    <dgm:pt modelId="{7A4D83BC-D25D-4831-9241-E8CA754AD492}" type="pres">
      <dgm:prSet presAssocID="{82A83298-CC8B-43FC-BA9B-B804E53ABEC3}" presName="sibTrans" presStyleCnt="0"/>
      <dgm:spPr/>
    </dgm:pt>
    <dgm:pt modelId="{6C271039-401D-450C-9811-D28790F75E5D}" type="pres">
      <dgm:prSet presAssocID="{89930A99-CCB4-4EFB-BF9F-AF28B4267AC0}" presName="compNode" presStyleCnt="0"/>
      <dgm:spPr/>
    </dgm:pt>
    <dgm:pt modelId="{5950EB7E-9C10-4B50-9B2F-A3D63EB2DD61}" type="pres">
      <dgm:prSet presAssocID="{89930A99-CCB4-4EFB-BF9F-AF28B4267AC0}" presName="bgRect" presStyleLbl="bgShp" presStyleIdx="1" presStyleCnt="8"/>
      <dgm:spPr>
        <a:solidFill>
          <a:schemeClr val="bg1">
            <a:lumMod val="85000"/>
          </a:schemeClr>
        </a:solidFill>
      </dgm:spPr>
    </dgm:pt>
    <dgm:pt modelId="{603F4529-A4CD-4545-A4FE-834E65F755CA}" type="pres">
      <dgm:prSet presAssocID="{89930A99-CCB4-4EFB-BF9F-AF28B4267AC0}" presName="iconRect" presStyleLbl="node1" presStyleIdx="1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 outline"/>
        </a:ext>
      </dgm:extLst>
    </dgm:pt>
    <dgm:pt modelId="{C4E76F9C-A2B7-4935-ADCA-883E803800E8}" type="pres">
      <dgm:prSet presAssocID="{89930A99-CCB4-4EFB-BF9F-AF28B4267AC0}" presName="spaceRect" presStyleCnt="0"/>
      <dgm:spPr/>
    </dgm:pt>
    <dgm:pt modelId="{83E3160F-2295-449A-8B0D-D1A9A79CDCD0}" type="pres">
      <dgm:prSet presAssocID="{89930A99-CCB4-4EFB-BF9F-AF28B4267AC0}" presName="parTx" presStyleLbl="revTx" presStyleIdx="1" presStyleCnt="8">
        <dgm:presLayoutVars>
          <dgm:chMax val="0"/>
          <dgm:chPref val="0"/>
        </dgm:presLayoutVars>
      </dgm:prSet>
      <dgm:spPr/>
    </dgm:pt>
    <dgm:pt modelId="{1715CAD6-C127-4AB7-879D-11B078753640}" type="pres">
      <dgm:prSet presAssocID="{3EE8B350-B202-4368-A716-A574134DE479}" presName="sibTrans" presStyleCnt="0"/>
      <dgm:spPr/>
    </dgm:pt>
    <dgm:pt modelId="{FEC788D8-F2A8-4B6A-924B-EE4347485686}" type="pres">
      <dgm:prSet presAssocID="{E6A01C9A-B680-4AEC-83A9-4AE06EE50090}" presName="compNode" presStyleCnt="0"/>
      <dgm:spPr/>
    </dgm:pt>
    <dgm:pt modelId="{FE7A8FE1-F54F-4FD0-9AEF-D331D81B1476}" type="pres">
      <dgm:prSet presAssocID="{E6A01C9A-B680-4AEC-83A9-4AE06EE50090}" presName="bgRect" presStyleLbl="bgShp" presStyleIdx="2" presStyleCnt="8"/>
      <dgm:spPr>
        <a:solidFill>
          <a:schemeClr val="bg1">
            <a:lumMod val="85000"/>
          </a:schemeClr>
        </a:solidFill>
      </dgm:spPr>
    </dgm:pt>
    <dgm:pt modelId="{1B84661C-DD9B-4332-BDA6-CDA56B839EDB}" type="pres">
      <dgm:prSet presAssocID="{E6A01C9A-B680-4AEC-83A9-4AE06EE50090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EC0C486C-64CC-4D3A-83A5-3FA68841410F}" type="pres">
      <dgm:prSet presAssocID="{E6A01C9A-B680-4AEC-83A9-4AE06EE50090}" presName="spaceRect" presStyleCnt="0"/>
      <dgm:spPr/>
    </dgm:pt>
    <dgm:pt modelId="{95F22F1E-7A14-44B9-B8C8-954B008BAC99}" type="pres">
      <dgm:prSet presAssocID="{E6A01C9A-B680-4AEC-83A9-4AE06EE50090}" presName="parTx" presStyleLbl="revTx" presStyleIdx="2" presStyleCnt="8">
        <dgm:presLayoutVars>
          <dgm:chMax val="0"/>
          <dgm:chPref val="0"/>
        </dgm:presLayoutVars>
      </dgm:prSet>
      <dgm:spPr/>
    </dgm:pt>
    <dgm:pt modelId="{C22A236E-C5C1-49A1-8273-766ED92CA45D}" type="pres">
      <dgm:prSet presAssocID="{FE20FAD7-B842-488C-94E1-B9E3ED5FF515}" presName="sibTrans" presStyleCnt="0"/>
      <dgm:spPr/>
    </dgm:pt>
    <dgm:pt modelId="{11D050D6-FC51-46AA-B411-5BABD33012B0}" type="pres">
      <dgm:prSet presAssocID="{7D3A8DDC-99CF-4BD7-914C-33397624DB36}" presName="compNode" presStyleCnt="0"/>
      <dgm:spPr/>
    </dgm:pt>
    <dgm:pt modelId="{8C4DB697-19AE-444D-AFE2-0AE9BC29FF81}" type="pres">
      <dgm:prSet presAssocID="{7D3A8DDC-99CF-4BD7-914C-33397624DB36}" presName="bgRect" presStyleLbl="bgShp" presStyleIdx="3" presStyleCnt="8"/>
      <dgm:spPr>
        <a:solidFill>
          <a:schemeClr val="bg1">
            <a:lumMod val="85000"/>
          </a:schemeClr>
        </a:solidFill>
      </dgm:spPr>
    </dgm:pt>
    <dgm:pt modelId="{E2C3330B-97A8-44C7-B702-CA613CA49B9D}" type="pres">
      <dgm:prSet presAssocID="{7D3A8DDC-99CF-4BD7-914C-33397624DB36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2E4415AD-FB9D-4789-A0AE-3686B36D58D6}" type="pres">
      <dgm:prSet presAssocID="{7D3A8DDC-99CF-4BD7-914C-33397624DB36}" presName="spaceRect" presStyleCnt="0"/>
      <dgm:spPr/>
    </dgm:pt>
    <dgm:pt modelId="{6EA5E143-A93F-4C09-AF03-4B661EEB3A95}" type="pres">
      <dgm:prSet presAssocID="{7D3A8DDC-99CF-4BD7-914C-33397624DB36}" presName="parTx" presStyleLbl="revTx" presStyleIdx="3" presStyleCnt="8">
        <dgm:presLayoutVars>
          <dgm:chMax val="0"/>
          <dgm:chPref val="0"/>
        </dgm:presLayoutVars>
      </dgm:prSet>
      <dgm:spPr/>
    </dgm:pt>
    <dgm:pt modelId="{F886F137-12FD-4D6D-85D5-0369AAD3E242}" type="pres">
      <dgm:prSet presAssocID="{CE51D7FB-FF43-4699-B0DC-9848334A66A0}" presName="sibTrans" presStyleCnt="0"/>
      <dgm:spPr/>
    </dgm:pt>
    <dgm:pt modelId="{4C6B088A-F8B6-4D17-B3D8-232E51F9C4ED}" type="pres">
      <dgm:prSet presAssocID="{90DD17D5-7831-42A6-A50E-4261B70CC9B4}" presName="compNode" presStyleCnt="0"/>
      <dgm:spPr/>
    </dgm:pt>
    <dgm:pt modelId="{5A1D750B-4FEA-49AF-92E1-2A81FA68472D}" type="pres">
      <dgm:prSet presAssocID="{90DD17D5-7831-42A6-A50E-4261B70CC9B4}" presName="bgRect" presStyleLbl="bgShp" presStyleIdx="4" presStyleCnt="8"/>
      <dgm:spPr>
        <a:solidFill>
          <a:schemeClr val="bg1">
            <a:lumMod val="85000"/>
          </a:schemeClr>
        </a:solidFill>
      </dgm:spPr>
    </dgm:pt>
    <dgm:pt modelId="{C4F5AEF3-C53D-46B2-B306-BEDCA053A367}" type="pres">
      <dgm:prSet presAssocID="{90DD17D5-7831-42A6-A50E-4261B70CC9B4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D245BBB-D9F8-4024-BBCA-25299D316835}" type="pres">
      <dgm:prSet presAssocID="{90DD17D5-7831-42A6-A50E-4261B70CC9B4}" presName="spaceRect" presStyleCnt="0"/>
      <dgm:spPr/>
    </dgm:pt>
    <dgm:pt modelId="{10AD7FEB-4A78-4048-AC13-BBB66BD7C6F3}" type="pres">
      <dgm:prSet presAssocID="{90DD17D5-7831-42A6-A50E-4261B70CC9B4}" presName="parTx" presStyleLbl="revTx" presStyleIdx="4" presStyleCnt="8">
        <dgm:presLayoutVars>
          <dgm:chMax val="0"/>
          <dgm:chPref val="0"/>
        </dgm:presLayoutVars>
      </dgm:prSet>
      <dgm:spPr/>
    </dgm:pt>
    <dgm:pt modelId="{2EEE60F6-DFEA-4C1B-B42C-E48F2FF58C6B}" type="pres">
      <dgm:prSet presAssocID="{B0672D3E-F598-48DE-B950-9D364107386E}" presName="sibTrans" presStyleCnt="0"/>
      <dgm:spPr/>
    </dgm:pt>
    <dgm:pt modelId="{DBEE72B4-8858-42B5-B6F9-12C9366382CA}" type="pres">
      <dgm:prSet presAssocID="{54C394F3-9C8F-4FC6-B890-FED485791A18}" presName="compNode" presStyleCnt="0"/>
      <dgm:spPr/>
    </dgm:pt>
    <dgm:pt modelId="{3132BFF0-B777-452D-9C67-2D45E4C292A1}" type="pres">
      <dgm:prSet presAssocID="{54C394F3-9C8F-4FC6-B890-FED485791A18}" presName="bgRect" presStyleLbl="bgShp" presStyleIdx="5" presStyleCnt="8"/>
      <dgm:spPr>
        <a:solidFill>
          <a:schemeClr val="bg1">
            <a:lumMod val="85000"/>
          </a:schemeClr>
        </a:solidFill>
      </dgm:spPr>
    </dgm:pt>
    <dgm:pt modelId="{641949A1-7A59-4E20-A31C-A5B433C70A55}" type="pres">
      <dgm:prSet presAssocID="{54C394F3-9C8F-4FC6-B890-FED485791A18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F82C378-C016-4F64-A0EE-3881672EBE11}" type="pres">
      <dgm:prSet presAssocID="{54C394F3-9C8F-4FC6-B890-FED485791A18}" presName="spaceRect" presStyleCnt="0"/>
      <dgm:spPr/>
    </dgm:pt>
    <dgm:pt modelId="{0844DC32-97A4-4841-BA96-0665396E9740}" type="pres">
      <dgm:prSet presAssocID="{54C394F3-9C8F-4FC6-B890-FED485791A18}" presName="parTx" presStyleLbl="revTx" presStyleIdx="5" presStyleCnt="8">
        <dgm:presLayoutVars>
          <dgm:chMax val="0"/>
          <dgm:chPref val="0"/>
        </dgm:presLayoutVars>
      </dgm:prSet>
      <dgm:spPr/>
    </dgm:pt>
    <dgm:pt modelId="{80DF116D-C93A-466A-8AC0-B31EB5BC4FDE}" type="pres">
      <dgm:prSet presAssocID="{153EE80A-5848-4B52-BCDC-44054CC98DA5}" presName="sibTrans" presStyleCnt="0"/>
      <dgm:spPr/>
    </dgm:pt>
    <dgm:pt modelId="{0F57EEE0-9C21-48BA-AD3A-7B9F673893FF}" type="pres">
      <dgm:prSet presAssocID="{0E9185AE-9101-4E70-9AA3-2F934EB18F5D}" presName="compNode" presStyleCnt="0"/>
      <dgm:spPr/>
    </dgm:pt>
    <dgm:pt modelId="{00B329C5-A83B-4F43-B98F-A0B6C8EE8A9C}" type="pres">
      <dgm:prSet presAssocID="{0E9185AE-9101-4E70-9AA3-2F934EB18F5D}" presName="bgRect" presStyleLbl="bgShp" presStyleIdx="6" presStyleCnt="8"/>
      <dgm:spPr>
        <a:solidFill>
          <a:schemeClr val="bg1">
            <a:lumMod val="85000"/>
          </a:schemeClr>
        </a:solidFill>
      </dgm:spPr>
    </dgm:pt>
    <dgm:pt modelId="{03E46F22-D6CC-4764-933B-DA50605EA8BE}" type="pres">
      <dgm:prSet presAssocID="{0E9185AE-9101-4E70-9AA3-2F934EB18F5D}" presName="iconRect" presStyleLbl="node1" presStyleIdx="6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 with solid fill"/>
        </a:ext>
      </dgm:extLst>
    </dgm:pt>
    <dgm:pt modelId="{F7F17B80-7928-4F6F-933F-C28D406F8213}" type="pres">
      <dgm:prSet presAssocID="{0E9185AE-9101-4E70-9AA3-2F934EB18F5D}" presName="spaceRect" presStyleCnt="0"/>
      <dgm:spPr/>
    </dgm:pt>
    <dgm:pt modelId="{13598AD3-DD68-42D6-A9E4-97A9A9C22D26}" type="pres">
      <dgm:prSet presAssocID="{0E9185AE-9101-4E70-9AA3-2F934EB18F5D}" presName="parTx" presStyleLbl="revTx" presStyleIdx="6" presStyleCnt="8">
        <dgm:presLayoutVars>
          <dgm:chMax val="0"/>
          <dgm:chPref val="0"/>
        </dgm:presLayoutVars>
      </dgm:prSet>
      <dgm:spPr/>
    </dgm:pt>
    <dgm:pt modelId="{8A337867-E48A-4AA4-9AF1-BE465A752E7D}" type="pres">
      <dgm:prSet presAssocID="{0919DB6B-29C3-4182-9511-4755054196A6}" presName="sibTrans" presStyleCnt="0"/>
      <dgm:spPr/>
    </dgm:pt>
    <dgm:pt modelId="{F911BF5A-6456-460A-A2E1-117D4F9455C0}" type="pres">
      <dgm:prSet presAssocID="{B42C3B4F-D6AF-4E84-9E58-7294EEDA2319}" presName="compNode" presStyleCnt="0"/>
      <dgm:spPr/>
    </dgm:pt>
    <dgm:pt modelId="{53A46533-73F6-4CF9-8565-DB1C64CC6CE3}" type="pres">
      <dgm:prSet presAssocID="{B42C3B4F-D6AF-4E84-9E58-7294EEDA2319}" presName="bgRect" presStyleLbl="bgShp" presStyleIdx="7" presStyleCnt="8"/>
      <dgm:spPr>
        <a:solidFill>
          <a:schemeClr val="bg1">
            <a:lumMod val="85000"/>
          </a:schemeClr>
        </a:solidFill>
      </dgm:spPr>
    </dgm:pt>
    <dgm:pt modelId="{FFF3028F-8981-4864-B4DC-F1E2884F5248}" type="pres">
      <dgm:prSet presAssocID="{B42C3B4F-D6AF-4E84-9E58-7294EEDA2319}" presName="iconRect" presStyleLbl="node1" presStyleIdx="7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3258C383-3CCA-49BA-B67B-817EA34DAE62}" type="pres">
      <dgm:prSet presAssocID="{B42C3B4F-D6AF-4E84-9E58-7294EEDA2319}" presName="spaceRect" presStyleCnt="0"/>
      <dgm:spPr/>
    </dgm:pt>
    <dgm:pt modelId="{4C193D85-25A3-4A62-8566-034A32A405E9}" type="pres">
      <dgm:prSet presAssocID="{B42C3B4F-D6AF-4E84-9E58-7294EEDA2319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7C442B01-1FA3-4545-AEC2-0C87B571A5B6}" srcId="{7B487667-C75F-4408-AE23-36213C1E1B3A}" destId="{7D3A8DDC-99CF-4BD7-914C-33397624DB36}" srcOrd="3" destOrd="0" parTransId="{A4B5D6E8-AC30-48F0-95A6-B2EE7721EE26}" sibTransId="{CE51D7FB-FF43-4699-B0DC-9848334A66A0}"/>
    <dgm:cxn modelId="{AD254C03-F695-4E34-9DD0-C80B30975F23}" type="presOf" srcId="{54C394F3-9C8F-4FC6-B890-FED485791A18}" destId="{0844DC32-97A4-4841-BA96-0665396E9740}" srcOrd="0" destOrd="0" presId="urn:microsoft.com/office/officeart/2018/2/layout/IconVerticalSolidList"/>
    <dgm:cxn modelId="{B5CE7B10-E84A-4781-B7E1-D222BE7A6FD8}" type="presOf" srcId="{89930A99-CCB4-4EFB-BF9F-AF28B4267AC0}" destId="{83E3160F-2295-449A-8B0D-D1A9A79CDCD0}" srcOrd="0" destOrd="0" presId="urn:microsoft.com/office/officeart/2018/2/layout/IconVerticalSolidList"/>
    <dgm:cxn modelId="{44075815-3BD0-4A89-A826-0CD4736C9ADA}" srcId="{7B487667-C75F-4408-AE23-36213C1E1B3A}" destId="{E6A01C9A-B680-4AEC-83A9-4AE06EE50090}" srcOrd="2" destOrd="0" parTransId="{08D36A85-7B1C-4B5E-9609-332A346A5BAB}" sibTransId="{FE20FAD7-B842-488C-94E1-B9E3ED5FF515}"/>
    <dgm:cxn modelId="{73DE9B1E-3F1E-46F4-9BF9-4BDDAAF5A57C}" type="presOf" srcId="{7D3A8DDC-99CF-4BD7-914C-33397624DB36}" destId="{6EA5E143-A93F-4C09-AF03-4B661EEB3A95}" srcOrd="0" destOrd="0" presId="urn:microsoft.com/office/officeart/2018/2/layout/IconVerticalSolidList"/>
    <dgm:cxn modelId="{23FBFF27-6F0A-4AA5-ABFE-A76CAD821FB6}" type="presOf" srcId="{0E9185AE-9101-4E70-9AA3-2F934EB18F5D}" destId="{13598AD3-DD68-42D6-A9E4-97A9A9C22D26}" srcOrd="0" destOrd="0" presId="urn:microsoft.com/office/officeart/2018/2/layout/IconVerticalSolidList"/>
    <dgm:cxn modelId="{86C39231-6734-41FC-ACB1-BE768A12BA19}" srcId="{7B487667-C75F-4408-AE23-36213C1E1B3A}" destId="{89930A99-CCB4-4EFB-BF9F-AF28B4267AC0}" srcOrd="1" destOrd="0" parTransId="{14AC3765-0815-435C-BA83-E32F774B35CD}" sibTransId="{3EE8B350-B202-4368-A716-A574134DE479}"/>
    <dgm:cxn modelId="{A15E0C67-AFCC-4A4B-8380-1CB26580F5E2}" srcId="{7B487667-C75F-4408-AE23-36213C1E1B3A}" destId="{B42C3B4F-D6AF-4E84-9E58-7294EEDA2319}" srcOrd="7" destOrd="0" parTransId="{C2ED21C9-43EF-4391-9FB1-5A76E9720697}" sibTransId="{EE789556-BF7B-40DF-84F3-E51DD996712D}"/>
    <dgm:cxn modelId="{97936D4F-1F89-41A6-A845-AA509567F1D3}" type="presOf" srcId="{E6A01C9A-B680-4AEC-83A9-4AE06EE50090}" destId="{95F22F1E-7A14-44B9-B8C8-954B008BAC99}" srcOrd="0" destOrd="0" presId="urn:microsoft.com/office/officeart/2018/2/layout/IconVerticalSolidList"/>
    <dgm:cxn modelId="{9E79A354-4465-4283-8C2C-094AB85B0734}" type="presOf" srcId="{B42C3B4F-D6AF-4E84-9E58-7294EEDA2319}" destId="{4C193D85-25A3-4A62-8566-034A32A405E9}" srcOrd="0" destOrd="0" presId="urn:microsoft.com/office/officeart/2018/2/layout/IconVerticalSolidList"/>
    <dgm:cxn modelId="{C631E28C-736A-447B-930C-3BF863BA22FD}" srcId="{7B487667-C75F-4408-AE23-36213C1E1B3A}" destId="{90DD17D5-7831-42A6-A50E-4261B70CC9B4}" srcOrd="4" destOrd="0" parTransId="{957E82B5-2694-4A0A-A4C6-3B93FF562452}" sibTransId="{B0672D3E-F598-48DE-B950-9D364107386E}"/>
    <dgm:cxn modelId="{958B4D99-64A9-4EB5-8400-97AA53F7C8CC}" type="presOf" srcId="{90DD17D5-7831-42A6-A50E-4261B70CC9B4}" destId="{10AD7FEB-4A78-4048-AC13-BBB66BD7C6F3}" srcOrd="0" destOrd="0" presId="urn:microsoft.com/office/officeart/2018/2/layout/IconVerticalSolidList"/>
    <dgm:cxn modelId="{B3AB669B-73DA-4669-99DC-4000FF77827A}" type="presOf" srcId="{210AA39C-50F1-42EE-82BD-538835A2A7DE}" destId="{21D2A21C-3481-4289-A3E0-A55754A9A49F}" srcOrd="0" destOrd="0" presId="urn:microsoft.com/office/officeart/2018/2/layout/IconVerticalSolidList"/>
    <dgm:cxn modelId="{BFC2FEBB-CE7C-4B50-A417-4E2FF2A37567}" srcId="{7B487667-C75F-4408-AE23-36213C1E1B3A}" destId="{0E9185AE-9101-4E70-9AA3-2F934EB18F5D}" srcOrd="6" destOrd="0" parTransId="{64A32345-C450-4AFC-8DE5-86CD343292AC}" sibTransId="{0919DB6B-29C3-4182-9511-4755054196A6}"/>
    <dgm:cxn modelId="{A29464D3-F99F-40A0-B483-33434F161DFF}" srcId="{7B487667-C75F-4408-AE23-36213C1E1B3A}" destId="{210AA39C-50F1-42EE-82BD-538835A2A7DE}" srcOrd="0" destOrd="0" parTransId="{33B334D0-BD55-4B0D-A71A-0B68014BBBD1}" sibTransId="{82A83298-CC8B-43FC-BA9B-B804E53ABEC3}"/>
    <dgm:cxn modelId="{090590EF-E622-424A-9D2A-EC1B1454A23D}" srcId="{7B487667-C75F-4408-AE23-36213C1E1B3A}" destId="{54C394F3-9C8F-4FC6-B890-FED485791A18}" srcOrd="5" destOrd="0" parTransId="{EA6F63C1-EFD6-4D2F-932C-2E1A4714691F}" sibTransId="{153EE80A-5848-4B52-BCDC-44054CC98DA5}"/>
    <dgm:cxn modelId="{6B7F2CF4-A093-4391-B8EC-45337B902F37}" type="presOf" srcId="{7B487667-C75F-4408-AE23-36213C1E1B3A}" destId="{03068A6E-7920-43E8-AFDF-0543922FAEED}" srcOrd="0" destOrd="0" presId="urn:microsoft.com/office/officeart/2018/2/layout/IconVerticalSolidList"/>
    <dgm:cxn modelId="{9887A46F-C1B1-4971-905B-8139DD26FE51}" type="presParOf" srcId="{03068A6E-7920-43E8-AFDF-0543922FAEED}" destId="{CFC4503B-5A91-4B91-8C45-51D21B3284E8}" srcOrd="0" destOrd="0" presId="urn:microsoft.com/office/officeart/2018/2/layout/IconVerticalSolidList"/>
    <dgm:cxn modelId="{344AA9E7-DBA6-4A14-B2C0-E6D99CF13457}" type="presParOf" srcId="{CFC4503B-5A91-4B91-8C45-51D21B3284E8}" destId="{6625B4A1-3405-4948-B682-A5CB1E992021}" srcOrd="0" destOrd="0" presId="urn:microsoft.com/office/officeart/2018/2/layout/IconVerticalSolidList"/>
    <dgm:cxn modelId="{8D1179C2-AD06-494C-B660-F218BF4AA7BA}" type="presParOf" srcId="{CFC4503B-5A91-4B91-8C45-51D21B3284E8}" destId="{D2B8CD52-BB7E-4677-9389-FACE7C71D064}" srcOrd="1" destOrd="0" presId="urn:microsoft.com/office/officeart/2018/2/layout/IconVerticalSolidList"/>
    <dgm:cxn modelId="{FAF61965-0C22-4282-91E4-DC0BB8AF09C8}" type="presParOf" srcId="{CFC4503B-5A91-4B91-8C45-51D21B3284E8}" destId="{7A5F8036-C021-404D-8F33-1C7D527183D3}" srcOrd="2" destOrd="0" presId="urn:microsoft.com/office/officeart/2018/2/layout/IconVerticalSolidList"/>
    <dgm:cxn modelId="{1358735A-EEC7-4D94-B992-A8F5E417DE5B}" type="presParOf" srcId="{CFC4503B-5A91-4B91-8C45-51D21B3284E8}" destId="{21D2A21C-3481-4289-A3E0-A55754A9A49F}" srcOrd="3" destOrd="0" presId="urn:microsoft.com/office/officeart/2018/2/layout/IconVerticalSolidList"/>
    <dgm:cxn modelId="{5C26AAF4-7407-4D48-827B-38A6930C7D41}" type="presParOf" srcId="{03068A6E-7920-43E8-AFDF-0543922FAEED}" destId="{7A4D83BC-D25D-4831-9241-E8CA754AD492}" srcOrd="1" destOrd="0" presId="urn:microsoft.com/office/officeart/2018/2/layout/IconVerticalSolidList"/>
    <dgm:cxn modelId="{E1C1053B-D8CD-4BEF-BB47-F80C4B316AA8}" type="presParOf" srcId="{03068A6E-7920-43E8-AFDF-0543922FAEED}" destId="{6C271039-401D-450C-9811-D28790F75E5D}" srcOrd="2" destOrd="0" presId="urn:microsoft.com/office/officeart/2018/2/layout/IconVerticalSolidList"/>
    <dgm:cxn modelId="{74FCC9F0-F622-4BBE-BE72-D9F222B13381}" type="presParOf" srcId="{6C271039-401D-450C-9811-D28790F75E5D}" destId="{5950EB7E-9C10-4B50-9B2F-A3D63EB2DD61}" srcOrd="0" destOrd="0" presId="urn:microsoft.com/office/officeart/2018/2/layout/IconVerticalSolidList"/>
    <dgm:cxn modelId="{3F37668A-80BD-48C5-802E-256597FABB9E}" type="presParOf" srcId="{6C271039-401D-450C-9811-D28790F75E5D}" destId="{603F4529-A4CD-4545-A4FE-834E65F755CA}" srcOrd="1" destOrd="0" presId="urn:microsoft.com/office/officeart/2018/2/layout/IconVerticalSolidList"/>
    <dgm:cxn modelId="{D567275D-F07B-4EE7-B14A-0DF86C2F7788}" type="presParOf" srcId="{6C271039-401D-450C-9811-D28790F75E5D}" destId="{C4E76F9C-A2B7-4935-ADCA-883E803800E8}" srcOrd="2" destOrd="0" presId="urn:microsoft.com/office/officeart/2018/2/layout/IconVerticalSolidList"/>
    <dgm:cxn modelId="{1E90467D-A616-4064-A72C-D418FDAEE832}" type="presParOf" srcId="{6C271039-401D-450C-9811-D28790F75E5D}" destId="{83E3160F-2295-449A-8B0D-D1A9A79CDCD0}" srcOrd="3" destOrd="0" presId="urn:microsoft.com/office/officeart/2018/2/layout/IconVerticalSolidList"/>
    <dgm:cxn modelId="{5542C1D7-8CFF-4A3B-A2AC-7B495A8EE531}" type="presParOf" srcId="{03068A6E-7920-43E8-AFDF-0543922FAEED}" destId="{1715CAD6-C127-4AB7-879D-11B078753640}" srcOrd="3" destOrd="0" presId="urn:microsoft.com/office/officeart/2018/2/layout/IconVerticalSolidList"/>
    <dgm:cxn modelId="{1829C877-8EDB-489A-84F8-8CFB76F0A183}" type="presParOf" srcId="{03068A6E-7920-43E8-AFDF-0543922FAEED}" destId="{FEC788D8-F2A8-4B6A-924B-EE4347485686}" srcOrd="4" destOrd="0" presId="urn:microsoft.com/office/officeart/2018/2/layout/IconVerticalSolidList"/>
    <dgm:cxn modelId="{7C1FA6DF-DF3E-4FB8-900C-1D08CB288538}" type="presParOf" srcId="{FEC788D8-F2A8-4B6A-924B-EE4347485686}" destId="{FE7A8FE1-F54F-4FD0-9AEF-D331D81B1476}" srcOrd="0" destOrd="0" presId="urn:microsoft.com/office/officeart/2018/2/layout/IconVerticalSolidList"/>
    <dgm:cxn modelId="{5ADDAA1C-C535-4381-B0F5-FB8313B1FD1F}" type="presParOf" srcId="{FEC788D8-F2A8-4B6A-924B-EE4347485686}" destId="{1B84661C-DD9B-4332-BDA6-CDA56B839EDB}" srcOrd="1" destOrd="0" presId="urn:microsoft.com/office/officeart/2018/2/layout/IconVerticalSolidList"/>
    <dgm:cxn modelId="{1C66EDB9-F326-4903-B5DE-EE51AD8C2BD2}" type="presParOf" srcId="{FEC788D8-F2A8-4B6A-924B-EE4347485686}" destId="{EC0C486C-64CC-4D3A-83A5-3FA68841410F}" srcOrd="2" destOrd="0" presId="urn:microsoft.com/office/officeart/2018/2/layout/IconVerticalSolidList"/>
    <dgm:cxn modelId="{82278327-6C46-419E-B417-C8EC8823994D}" type="presParOf" srcId="{FEC788D8-F2A8-4B6A-924B-EE4347485686}" destId="{95F22F1E-7A14-44B9-B8C8-954B008BAC99}" srcOrd="3" destOrd="0" presId="urn:microsoft.com/office/officeart/2018/2/layout/IconVerticalSolidList"/>
    <dgm:cxn modelId="{F56D0CA6-8C6E-409A-918C-CCE81F858E1A}" type="presParOf" srcId="{03068A6E-7920-43E8-AFDF-0543922FAEED}" destId="{C22A236E-C5C1-49A1-8273-766ED92CA45D}" srcOrd="5" destOrd="0" presId="urn:microsoft.com/office/officeart/2018/2/layout/IconVerticalSolidList"/>
    <dgm:cxn modelId="{5FC57693-ACF2-4301-85FA-BC370B99E701}" type="presParOf" srcId="{03068A6E-7920-43E8-AFDF-0543922FAEED}" destId="{11D050D6-FC51-46AA-B411-5BABD33012B0}" srcOrd="6" destOrd="0" presId="urn:microsoft.com/office/officeart/2018/2/layout/IconVerticalSolidList"/>
    <dgm:cxn modelId="{5E0AC3D5-11EF-48A5-BA0B-BC5F7B5CE99A}" type="presParOf" srcId="{11D050D6-FC51-46AA-B411-5BABD33012B0}" destId="{8C4DB697-19AE-444D-AFE2-0AE9BC29FF81}" srcOrd="0" destOrd="0" presId="urn:microsoft.com/office/officeart/2018/2/layout/IconVerticalSolidList"/>
    <dgm:cxn modelId="{B8301D8D-FB8B-42AD-BAF3-15F135A04562}" type="presParOf" srcId="{11D050D6-FC51-46AA-B411-5BABD33012B0}" destId="{E2C3330B-97A8-44C7-B702-CA613CA49B9D}" srcOrd="1" destOrd="0" presId="urn:microsoft.com/office/officeart/2018/2/layout/IconVerticalSolidList"/>
    <dgm:cxn modelId="{A9E20E77-BCA3-408F-A22E-63946CAAC934}" type="presParOf" srcId="{11D050D6-FC51-46AA-B411-5BABD33012B0}" destId="{2E4415AD-FB9D-4789-A0AE-3686B36D58D6}" srcOrd="2" destOrd="0" presId="urn:microsoft.com/office/officeart/2018/2/layout/IconVerticalSolidList"/>
    <dgm:cxn modelId="{B55940B9-9257-449B-B071-BE819885627C}" type="presParOf" srcId="{11D050D6-FC51-46AA-B411-5BABD33012B0}" destId="{6EA5E143-A93F-4C09-AF03-4B661EEB3A95}" srcOrd="3" destOrd="0" presId="urn:microsoft.com/office/officeart/2018/2/layout/IconVerticalSolidList"/>
    <dgm:cxn modelId="{EB2D8925-DA33-43CE-9094-27741FDB2327}" type="presParOf" srcId="{03068A6E-7920-43E8-AFDF-0543922FAEED}" destId="{F886F137-12FD-4D6D-85D5-0369AAD3E242}" srcOrd="7" destOrd="0" presId="urn:microsoft.com/office/officeart/2018/2/layout/IconVerticalSolidList"/>
    <dgm:cxn modelId="{5B8C49A4-FB4D-4BFD-A475-E21682282DB2}" type="presParOf" srcId="{03068A6E-7920-43E8-AFDF-0543922FAEED}" destId="{4C6B088A-F8B6-4D17-B3D8-232E51F9C4ED}" srcOrd="8" destOrd="0" presId="urn:microsoft.com/office/officeart/2018/2/layout/IconVerticalSolidList"/>
    <dgm:cxn modelId="{5FE922C3-47BB-4321-B4A3-C0EE7F9EB3CB}" type="presParOf" srcId="{4C6B088A-F8B6-4D17-B3D8-232E51F9C4ED}" destId="{5A1D750B-4FEA-49AF-92E1-2A81FA68472D}" srcOrd="0" destOrd="0" presId="urn:microsoft.com/office/officeart/2018/2/layout/IconVerticalSolidList"/>
    <dgm:cxn modelId="{E12D10E3-808E-499D-AE24-C00CBC996ABA}" type="presParOf" srcId="{4C6B088A-F8B6-4D17-B3D8-232E51F9C4ED}" destId="{C4F5AEF3-C53D-46B2-B306-BEDCA053A367}" srcOrd="1" destOrd="0" presId="urn:microsoft.com/office/officeart/2018/2/layout/IconVerticalSolidList"/>
    <dgm:cxn modelId="{3B326860-79AA-4210-9B8A-575A39F59BBE}" type="presParOf" srcId="{4C6B088A-F8B6-4D17-B3D8-232E51F9C4ED}" destId="{BD245BBB-D9F8-4024-BBCA-25299D316835}" srcOrd="2" destOrd="0" presId="urn:microsoft.com/office/officeart/2018/2/layout/IconVerticalSolidList"/>
    <dgm:cxn modelId="{B808D823-1B28-4CF3-81FB-878C5CEAC4E5}" type="presParOf" srcId="{4C6B088A-F8B6-4D17-B3D8-232E51F9C4ED}" destId="{10AD7FEB-4A78-4048-AC13-BBB66BD7C6F3}" srcOrd="3" destOrd="0" presId="urn:microsoft.com/office/officeart/2018/2/layout/IconVerticalSolidList"/>
    <dgm:cxn modelId="{B4C2B40D-3004-40D0-86FE-BEB469B5DC4A}" type="presParOf" srcId="{03068A6E-7920-43E8-AFDF-0543922FAEED}" destId="{2EEE60F6-DFEA-4C1B-B42C-E48F2FF58C6B}" srcOrd="9" destOrd="0" presId="urn:microsoft.com/office/officeart/2018/2/layout/IconVerticalSolidList"/>
    <dgm:cxn modelId="{55F19C40-44B0-4AAC-B4C0-484B205DCBA3}" type="presParOf" srcId="{03068A6E-7920-43E8-AFDF-0543922FAEED}" destId="{DBEE72B4-8858-42B5-B6F9-12C9366382CA}" srcOrd="10" destOrd="0" presId="urn:microsoft.com/office/officeart/2018/2/layout/IconVerticalSolidList"/>
    <dgm:cxn modelId="{CEFF88BD-1D0B-417D-AA55-641A977C5C7A}" type="presParOf" srcId="{DBEE72B4-8858-42B5-B6F9-12C9366382CA}" destId="{3132BFF0-B777-452D-9C67-2D45E4C292A1}" srcOrd="0" destOrd="0" presId="urn:microsoft.com/office/officeart/2018/2/layout/IconVerticalSolidList"/>
    <dgm:cxn modelId="{899AAFDB-92DE-4685-9D5B-7BEB335697D7}" type="presParOf" srcId="{DBEE72B4-8858-42B5-B6F9-12C9366382CA}" destId="{641949A1-7A59-4E20-A31C-A5B433C70A55}" srcOrd="1" destOrd="0" presId="urn:microsoft.com/office/officeart/2018/2/layout/IconVerticalSolidList"/>
    <dgm:cxn modelId="{69FC94FD-37E3-419A-AC6B-8FFB16C7F0AA}" type="presParOf" srcId="{DBEE72B4-8858-42B5-B6F9-12C9366382CA}" destId="{5F82C378-C016-4F64-A0EE-3881672EBE11}" srcOrd="2" destOrd="0" presId="urn:microsoft.com/office/officeart/2018/2/layout/IconVerticalSolidList"/>
    <dgm:cxn modelId="{5DC9A440-6AE6-43D0-97BF-05ACFDB8F546}" type="presParOf" srcId="{DBEE72B4-8858-42B5-B6F9-12C9366382CA}" destId="{0844DC32-97A4-4841-BA96-0665396E9740}" srcOrd="3" destOrd="0" presId="urn:microsoft.com/office/officeart/2018/2/layout/IconVerticalSolidList"/>
    <dgm:cxn modelId="{5E7615D3-D026-4AE5-97B7-8212FFA71D2A}" type="presParOf" srcId="{03068A6E-7920-43E8-AFDF-0543922FAEED}" destId="{80DF116D-C93A-466A-8AC0-B31EB5BC4FDE}" srcOrd="11" destOrd="0" presId="urn:microsoft.com/office/officeart/2018/2/layout/IconVerticalSolidList"/>
    <dgm:cxn modelId="{98B966DF-3D9C-4717-B503-B682C26D1C9D}" type="presParOf" srcId="{03068A6E-7920-43E8-AFDF-0543922FAEED}" destId="{0F57EEE0-9C21-48BA-AD3A-7B9F673893FF}" srcOrd="12" destOrd="0" presId="urn:microsoft.com/office/officeart/2018/2/layout/IconVerticalSolidList"/>
    <dgm:cxn modelId="{CB53E132-FEA2-40CE-9936-F2972459D3D8}" type="presParOf" srcId="{0F57EEE0-9C21-48BA-AD3A-7B9F673893FF}" destId="{00B329C5-A83B-4F43-B98F-A0B6C8EE8A9C}" srcOrd="0" destOrd="0" presId="urn:microsoft.com/office/officeart/2018/2/layout/IconVerticalSolidList"/>
    <dgm:cxn modelId="{93CD7EE0-9645-4BD5-B2A1-158637D4BF51}" type="presParOf" srcId="{0F57EEE0-9C21-48BA-AD3A-7B9F673893FF}" destId="{03E46F22-D6CC-4764-933B-DA50605EA8BE}" srcOrd="1" destOrd="0" presId="urn:microsoft.com/office/officeart/2018/2/layout/IconVerticalSolidList"/>
    <dgm:cxn modelId="{DD50323B-0C79-4D4B-93D6-A8C12B482ECA}" type="presParOf" srcId="{0F57EEE0-9C21-48BA-AD3A-7B9F673893FF}" destId="{F7F17B80-7928-4F6F-933F-C28D406F8213}" srcOrd="2" destOrd="0" presId="urn:microsoft.com/office/officeart/2018/2/layout/IconVerticalSolidList"/>
    <dgm:cxn modelId="{1C14547F-BBCA-4C5B-A0C4-BAF229B9A311}" type="presParOf" srcId="{0F57EEE0-9C21-48BA-AD3A-7B9F673893FF}" destId="{13598AD3-DD68-42D6-A9E4-97A9A9C22D26}" srcOrd="3" destOrd="0" presId="urn:microsoft.com/office/officeart/2018/2/layout/IconVerticalSolidList"/>
    <dgm:cxn modelId="{706F5C10-AFD0-4318-99EC-3A3A9921B433}" type="presParOf" srcId="{03068A6E-7920-43E8-AFDF-0543922FAEED}" destId="{8A337867-E48A-4AA4-9AF1-BE465A752E7D}" srcOrd="13" destOrd="0" presId="urn:microsoft.com/office/officeart/2018/2/layout/IconVerticalSolidList"/>
    <dgm:cxn modelId="{24061E4A-FBA7-4ACC-9493-A0C62B16D569}" type="presParOf" srcId="{03068A6E-7920-43E8-AFDF-0543922FAEED}" destId="{F911BF5A-6456-460A-A2E1-117D4F9455C0}" srcOrd="14" destOrd="0" presId="urn:microsoft.com/office/officeart/2018/2/layout/IconVerticalSolidList"/>
    <dgm:cxn modelId="{837A9EBB-2805-4B0C-8102-F4782938167C}" type="presParOf" srcId="{F911BF5A-6456-460A-A2E1-117D4F9455C0}" destId="{53A46533-73F6-4CF9-8565-DB1C64CC6CE3}" srcOrd="0" destOrd="0" presId="urn:microsoft.com/office/officeart/2018/2/layout/IconVerticalSolidList"/>
    <dgm:cxn modelId="{64ABF58F-BD29-412F-9B74-8992EDAFF28C}" type="presParOf" srcId="{F911BF5A-6456-460A-A2E1-117D4F9455C0}" destId="{FFF3028F-8981-4864-B4DC-F1E2884F5248}" srcOrd="1" destOrd="0" presId="urn:microsoft.com/office/officeart/2018/2/layout/IconVerticalSolidList"/>
    <dgm:cxn modelId="{B91FC16D-1EC6-40C6-8EF9-29F9FB7FA61C}" type="presParOf" srcId="{F911BF5A-6456-460A-A2E1-117D4F9455C0}" destId="{3258C383-3CCA-49BA-B67B-817EA34DAE62}" srcOrd="2" destOrd="0" presId="urn:microsoft.com/office/officeart/2018/2/layout/IconVerticalSolidList"/>
    <dgm:cxn modelId="{358710A8-E188-4AA1-A49E-F5E80BC0D319}" type="presParOf" srcId="{F911BF5A-6456-460A-A2E1-117D4F9455C0}" destId="{4C193D85-25A3-4A62-8566-034A32A405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F85209-90A5-4785-BF42-76645B9A312C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C8CFD603-9FED-4C34-9C6D-BCA5B54DDBB2}">
      <dgm:prSet/>
      <dgm:spPr/>
      <dgm:t>
        <a:bodyPr/>
        <a:lstStyle/>
        <a:p>
          <a:pPr algn="ctr" rtl="1">
            <a:lnSpc>
              <a:spcPct val="100000"/>
            </a:lnSpc>
          </a:pPr>
          <a:r>
            <a:rPr lang="he-IL" dirty="0"/>
            <a:t>תת-הסוג הנפוץ ביותר בסרטן כליות כ75% מהמקרים.</a:t>
          </a:r>
          <a:endParaRPr lang="en-US" dirty="0"/>
        </a:p>
      </dgm:t>
    </dgm:pt>
    <dgm:pt modelId="{A4215D84-D5B2-466F-8573-14282BEA223E}" type="parTrans" cxnId="{CBFD5BC9-DE42-4AE8-9AA4-489E5D963D69}">
      <dgm:prSet/>
      <dgm:spPr/>
      <dgm:t>
        <a:bodyPr/>
        <a:lstStyle/>
        <a:p>
          <a:endParaRPr lang="en-US"/>
        </a:p>
      </dgm:t>
    </dgm:pt>
    <dgm:pt modelId="{28DD864B-C3F0-413A-97F2-72CDAE288705}" type="sibTrans" cxnId="{CBFD5BC9-DE42-4AE8-9AA4-489E5D963D69}">
      <dgm:prSet/>
      <dgm:spPr/>
      <dgm:t>
        <a:bodyPr/>
        <a:lstStyle/>
        <a:p>
          <a:endParaRPr lang="en-US"/>
        </a:p>
      </dgm:t>
    </dgm:pt>
    <dgm:pt modelId="{AA2151CA-B646-4916-881F-8A7A931AAAC3}">
      <dgm:prSet/>
      <dgm:spPr/>
      <dgm:t>
        <a:bodyPr/>
        <a:lstStyle/>
        <a:p>
          <a:pPr algn="ctr" rtl="1">
            <a:lnSpc>
              <a:spcPct val="100000"/>
            </a:lnSpc>
          </a:pPr>
          <a:r>
            <a:rPr lang="he-IL" dirty="0"/>
            <a:t>מטרה המחקר:</a:t>
          </a:r>
          <a:r>
            <a:rPr lang="en-US" dirty="0"/>
            <a:t> </a:t>
          </a:r>
          <a:r>
            <a:rPr lang="he-IL" dirty="0"/>
            <a:t>ליצר מערכת למידה רב-מודאליות לשילוב מקורות שונים של נתונים רפואיים</a:t>
          </a:r>
          <a:r>
            <a:rPr lang="en-US" dirty="0"/>
            <a:t>.</a:t>
          </a:r>
        </a:p>
      </dgm:t>
    </dgm:pt>
    <dgm:pt modelId="{AC0B8DFD-0399-4834-8E77-F47D9E3D87F8}" type="parTrans" cxnId="{CE0E7038-3EC3-4E4E-A5B1-94D3F104C35B}">
      <dgm:prSet/>
      <dgm:spPr/>
      <dgm:t>
        <a:bodyPr/>
        <a:lstStyle/>
        <a:p>
          <a:endParaRPr lang="en-US"/>
        </a:p>
      </dgm:t>
    </dgm:pt>
    <dgm:pt modelId="{7B08B55D-7251-476A-979D-34AD6BFD56CD}" type="sibTrans" cxnId="{CE0E7038-3EC3-4E4E-A5B1-94D3F104C35B}">
      <dgm:prSet/>
      <dgm:spPr/>
      <dgm:t>
        <a:bodyPr/>
        <a:lstStyle/>
        <a:p>
          <a:endParaRPr lang="en-US"/>
        </a:p>
      </dgm:t>
    </dgm:pt>
    <dgm:pt modelId="{E967E4AB-757E-4E12-ADC9-B3C5C5E385BF}">
      <dgm:prSet/>
      <dgm:spPr/>
      <dgm:t>
        <a:bodyPr/>
        <a:lstStyle/>
        <a:p>
          <a:pPr algn="ctr" rtl="1">
            <a:lnSpc>
              <a:spcPct val="100000"/>
            </a:lnSpc>
          </a:pPr>
          <a:r>
            <a:rPr lang="he-IL" dirty="0"/>
            <a:t>משימה המחקר:</a:t>
          </a:r>
          <a:r>
            <a:rPr lang="en-US" dirty="0"/>
            <a:t> </a:t>
          </a:r>
          <a:r>
            <a:rPr lang="he-IL" dirty="0"/>
            <a:t>פיתוח מודל חיזוי בינארי להערכת הישרדות לאחר 12 חודשים עבור מטופלים שאובחנו כחולים במחלה </a:t>
          </a:r>
          <a:r>
            <a:rPr lang="en-US" dirty="0"/>
            <a:t>CRCC</a:t>
          </a:r>
          <a:r>
            <a:rPr lang="he-IL" dirty="0"/>
            <a:t> </a:t>
          </a:r>
          <a:endParaRPr lang="en-US" dirty="0"/>
        </a:p>
      </dgm:t>
    </dgm:pt>
    <dgm:pt modelId="{61B47606-0C43-4FDD-A336-692C785DC6C0}" type="parTrans" cxnId="{A3843B48-F82A-477A-AA0B-EC5A932B47A0}">
      <dgm:prSet/>
      <dgm:spPr/>
      <dgm:t>
        <a:bodyPr/>
        <a:lstStyle/>
        <a:p>
          <a:endParaRPr lang="en-US"/>
        </a:p>
      </dgm:t>
    </dgm:pt>
    <dgm:pt modelId="{1A6C0D76-3180-4EE7-8B18-6679474FF656}" type="sibTrans" cxnId="{A3843B48-F82A-477A-AA0B-EC5A932B47A0}">
      <dgm:prSet/>
      <dgm:spPr/>
      <dgm:t>
        <a:bodyPr/>
        <a:lstStyle/>
        <a:p>
          <a:endParaRPr lang="en-US"/>
        </a:p>
      </dgm:t>
    </dgm:pt>
    <dgm:pt modelId="{A1C1B7BD-E046-486F-B638-0288ECBB6E95}">
      <dgm:prSet/>
      <dgm:spPr/>
      <dgm:t>
        <a:bodyPr/>
        <a:lstStyle/>
        <a:p>
          <a:pPr algn="ctr" rtl="1">
            <a:lnSpc>
              <a:spcPct val="100000"/>
            </a:lnSpc>
          </a:pPr>
          <a:r>
            <a:rPr lang="he-IL" dirty="0"/>
            <a:t>שילוב מידע ממספר אופנים (היסטופתולוגיה, גנומיקה, קלינית)</a:t>
          </a:r>
          <a:endParaRPr lang="en-US" dirty="0"/>
        </a:p>
      </dgm:t>
    </dgm:pt>
    <dgm:pt modelId="{820D138D-A4B5-4B2D-861B-1C5DCC7F1487}" type="parTrans" cxnId="{345D0431-5962-4602-88C6-4E0576C6E7D2}">
      <dgm:prSet/>
      <dgm:spPr/>
      <dgm:t>
        <a:bodyPr/>
        <a:lstStyle/>
        <a:p>
          <a:endParaRPr lang="en-US"/>
        </a:p>
      </dgm:t>
    </dgm:pt>
    <dgm:pt modelId="{AC82F083-5E15-4C82-9FCA-DA84FACEAF64}" type="sibTrans" cxnId="{345D0431-5962-4602-88C6-4E0576C6E7D2}">
      <dgm:prSet/>
      <dgm:spPr/>
      <dgm:t>
        <a:bodyPr/>
        <a:lstStyle/>
        <a:p>
          <a:endParaRPr lang="en-US"/>
        </a:p>
      </dgm:t>
    </dgm:pt>
    <dgm:pt modelId="{CC86FF0E-224A-46E6-94DB-6B06D2292BC2}">
      <dgm:prSet/>
      <dgm:spPr/>
      <dgm:t>
        <a:bodyPr/>
        <a:lstStyle/>
        <a:p>
          <a:pPr algn="ctr" rtl="1">
            <a:lnSpc>
              <a:spcPct val="100000"/>
            </a:lnSpc>
          </a:pPr>
          <a:r>
            <a:rPr lang="he-IL" dirty="0"/>
            <a:t>מחלה המאופיינת בשונות גבוהה בין חולים.</a:t>
          </a:r>
          <a:endParaRPr lang="en-IL" dirty="0"/>
        </a:p>
      </dgm:t>
    </dgm:pt>
    <dgm:pt modelId="{814E4F00-0318-4231-AE65-EA2181E8280E}" type="parTrans" cxnId="{191A0609-CC09-4926-A755-C434C303CBB2}">
      <dgm:prSet/>
      <dgm:spPr/>
      <dgm:t>
        <a:bodyPr/>
        <a:lstStyle/>
        <a:p>
          <a:endParaRPr lang="en-IL"/>
        </a:p>
      </dgm:t>
    </dgm:pt>
    <dgm:pt modelId="{6DF5AD70-C98A-4AE1-9409-F719C9A5D03E}" type="sibTrans" cxnId="{191A0609-CC09-4926-A755-C434C303CBB2}">
      <dgm:prSet/>
      <dgm:spPr/>
      <dgm:t>
        <a:bodyPr/>
        <a:lstStyle/>
        <a:p>
          <a:endParaRPr lang="en-IL"/>
        </a:p>
      </dgm:t>
    </dgm:pt>
    <dgm:pt modelId="{7D56E607-520F-49CC-87E8-2FE06EE6EEE7}">
      <dgm:prSet/>
      <dgm:spPr/>
      <dgm:t>
        <a:bodyPr/>
        <a:lstStyle/>
        <a:p>
          <a:pPr algn="ctr" rtl="1">
            <a:lnSpc>
              <a:spcPct val="100000"/>
            </a:lnSpc>
          </a:pPr>
          <a:r>
            <a:rPr lang="he-IL" dirty="0"/>
            <a:t>תת-הסוג של סרטן הכליות</a:t>
          </a:r>
          <a:endParaRPr lang="en-IL" dirty="0"/>
        </a:p>
      </dgm:t>
    </dgm:pt>
    <dgm:pt modelId="{6D3547C1-2D0B-4659-9071-9A42363A26D5}" type="parTrans" cxnId="{F0D0B2D6-F2CC-400D-918C-503C9A10716B}">
      <dgm:prSet/>
      <dgm:spPr/>
      <dgm:t>
        <a:bodyPr/>
        <a:lstStyle/>
        <a:p>
          <a:endParaRPr lang="en-IL"/>
        </a:p>
      </dgm:t>
    </dgm:pt>
    <dgm:pt modelId="{81A84FD4-FFBB-48B6-A279-96BCA7BDB3DE}" type="sibTrans" cxnId="{F0D0B2D6-F2CC-400D-918C-503C9A10716B}">
      <dgm:prSet/>
      <dgm:spPr/>
      <dgm:t>
        <a:bodyPr/>
        <a:lstStyle/>
        <a:p>
          <a:endParaRPr lang="en-IL"/>
        </a:p>
      </dgm:t>
    </dgm:pt>
    <dgm:pt modelId="{909D3EC5-3FD1-465D-BCC6-CF147FFCDE64}" type="pres">
      <dgm:prSet presAssocID="{51F85209-90A5-4785-BF42-76645B9A312C}" presName="root" presStyleCnt="0">
        <dgm:presLayoutVars>
          <dgm:dir/>
          <dgm:resizeHandles val="exact"/>
        </dgm:presLayoutVars>
      </dgm:prSet>
      <dgm:spPr/>
    </dgm:pt>
    <dgm:pt modelId="{9897EA7E-9996-4846-A658-CD6629341CBF}" type="pres">
      <dgm:prSet presAssocID="{7D56E607-520F-49CC-87E8-2FE06EE6EEE7}" presName="compNode" presStyleCnt="0"/>
      <dgm:spPr/>
    </dgm:pt>
    <dgm:pt modelId="{BBCE11ED-F308-4405-AEC7-7096514F1121}" type="pres">
      <dgm:prSet presAssocID="{7D56E607-520F-49CC-87E8-2FE06EE6EEE7}" presName="bgRect" presStyleLbl="bgShp" presStyleIdx="0" presStyleCnt="6"/>
      <dgm:spPr/>
    </dgm:pt>
    <dgm:pt modelId="{6DF1B09C-7C6A-42F1-97D2-7517F23D39AB}" type="pres">
      <dgm:prSet presAssocID="{7D56E607-520F-49CC-87E8-2FE06EE6EEE7}" presName="iconRect" presStyleLbl="node1" presStyleIdx="0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 male with solid fill"/>
        </a:ext>
      </dgm:extLst>
    </dgm:pt>
    <dgm:pt modelId="{8FBB8014-56B6-415B-94BC-3D1BF4F98D4D}" type="pres">
      <dgm:prSet presAssocID="{7D56E607-520F-49CC-87E8-2FE06EE6EEE7}" presName="spaceRect" presStyleCnt="0"/>
      <dgm:spPr/>
    </dgm:pt>
    <dgm:pt modelId="{43D90A7E-4637-4BB7-9AAD-5D8E46E2D6BE}" type="pres">
      <dgm:prSet presAssocID="{7D56E607-520F-49CC-87E8-2FE06EE6EEE7}" presName="parTx" presStyleLbl="revTx" presStyleIdx="0" presStyleCnt="6">
        <dgm:presLayoutVars>
          <dgm:chMax val="0"/>
          <dgm:chPref val="0"/>
        </dgm:presLayoutVars>
      </dgm:prSet>
      <dgm:spPr/>
    </dgm:pt>
    <dgm:pt modelId="{23C2962A-2F8C-4AC0-894B-27819EA802FF}" type="pres">
      <dgm:prSet presAssocID="{81A84FD4-FFBB-48B6-A279-96BCA7BDB3DE}" presName="sibTrans" presStyleCnt="0"/>
      <dgm:spPr/>
    </dgm:pt>
    <dgm:pt modelId="{239A85FE-6DA3-48C1-8BB5-B76A2A988677}" type="pres">
      <dgm:prSet presAssocID="{C8CFD603-9FED-4C34-9C6D-BCA5B54DDBB2}" presName="compNode" presStyleCnt="0"/>
      <dgm:spPr/>
    </dgm:pt>
    <dgm:pt modelId="{39878E2A-8E79-49D5-9399-66A6246A4C2D}" type="pres">
      <dgm:prSet presAssocID="{C8CFD603-9FED-4C34-9C6D-BCA5B54DDBB2}" presName="bgRect" presStyleLbl="bgShp" presStyleIdx="1" presStyleCnt="6"/>
      <dgm:spPr/>
    </dgm:pt>
    <dgm:pt modelId="{10FDB5CC-2D52-4C20-967D-2D9FDB7C0BC0}" type="pres">
      <dgm:prSet presAssocID="{C8CFD603-9FED-4C34-9C6D-BCA5B54DDBB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66C0B920-629C-42BB-AA56-FB1070D3DA95}" type="pres">
      <dgm:prSet presAssocID="{C8CFD603-9FED-4C34-9C6D-BCA5B54DDBB2}" presName="spaceRect" presStyleCnt="0"/>
      <dgm:spPr/>
    </dgm:pt>
    <dgm:pt modelId="{692CA5DF-E522-4A4D-8BE8-DE86EFD91726}" type="pres">
      <dgm:prSet presAssocID="{C8CFD603-9FED-4C34-9C6D-BCA5B54DDBB2}" presName="parTx" presStyleLbl="revTx" presStyleIdx="1" presStyleCnt="6">
        <dgm:presLayoutVars>
          <dgm:chMax val="0"/>
          <dgm:chPref val="0"/>
        </dgm:presLayoutVars>
      </dgm:prSet>
      <dgm:spPr/>
    </dgm:pt>
    <dgm:pt modelId="{416117A3-4C14-4757-87C6-3ABE8700AE0E}" type="pres">
      <dgm:prSet presAssocID="{28DD864B-C3F0-413A-97F2-72CDAE288705}" presName="sibTrans" presStyleCnt="0"/>
      <dgm:spPr/>
    </dgm:pt>
    <dgm:pt modelId="{68CFF042-1B45-4FE5-9249-BAB4B7172314}" type="pres">
      <dgm:prSet presAssocID="{CC86FF0E-224A-46E6-94DB-6B06D2292BC2}" presName="compNode" presStyleCnt="0"/>
      <dgm:spPr/>
    </dgm:pt>
    <dgm:pt modelId="{CAC8E999-3B16-4054-ACD8-7431C4EA9FF7}" type="pres">
      <dgm:prSet presAssocID="{CC86FF0E-224A-46E6-94DB-6B06D2292BC2}" presName="bgRect" presStyleLbl="bgShp" presStyleIdx="2" presStyleCnt="6"/>
      <dgm:spPr/>
    </dgm:pt>
    <dgm:pt modelId="{B4AC0E1E-D205-457F-8EA5-651B5A1195CF}" type="pres">
      <dgm:prSet presAssocID="{CC86FF0E-224A-46E6-94DB-6B06D2292BC2}" presName="iconRect" presStyleLbl="nod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B5090E24-B398-4E1F-B21C-E3155659DA3D}" type="pres">
      <dgm:prSet presAssocID="{CC86FF0E-224A-46E6-94DB-6B06D2292BC2}" presName="spaceRect" presStyleCnt="0"/>
      <dgm:spPr/>
    </dgm:pt>
    <dgm:pt modelId="{9EDA7C11-DE34-4E01-A457-88AEA84A991F}" type="pres">
      <dgm:prSet presAssocID="{CC86FF0E-224A-46E6-94DB-6B06D2292BC2}" presName="parTx" presStyleLbl="revTx" presStyleIdx="2" presStyleCnt="6">
        <dgm:presLayoutVars>
          <dgm:chMax val="0"/>
          <dgm:chPref val="0"/>
        </dgm:presLayoutVars>
      </dgm:prSet>
      <dgm:spPr/>
    </dgm:pt>
    <dgm:pt modelId="{30C1BE36-2ADF-4406-A112-71FD26C95183}" type="pres">
      <dgm:prSet presAssocID="{6DF5AD70-C98A-4AE1-9409-F719C9A5D03E}" presName="sibTrans" presStyleCnt="0"/>
      <dgm:spPr/>
    </dgm:pt>
    <dgm:pt modelId="{978E132E-742E-4810-B770-4AF0DBE40D61}" type="pres">
      <dgm:prSet presAssocID="{AA2151CA-B646-4916-881F-8A7A931AAAC3}" presName="compNode" presStyleCnt="0"/>
      <dgm:spPr/>
    </dgm:pt>
    <dgm:pt modelId="{01F6D33B-EE74-458D-ABE4-A4B337B7FD74}" type="pres">
      <dgm:prSet presAssocID="{AA2151CA-B646-4916-881F-8A7A931AAAC3}" presName="bgRect" presStyleLbl="bgShp" presStyleIdx="3" presStyleCnt="6"/>
      <dgm:spPr/>
    </dgm:pt>
    <dgm:pt modelId="{0CFE93BD-5855-42CF-B029-AE9AEAA14AD1}" type="pres">
      <dgm:prSet presAssocID="{AA2151CA-B646-4916-881F-8A7A931AAAC3}" presName="iconRect" presStyleLbl="node1" presStyleIdx="3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 with solid fill"/>
        </a:ext>
      </dgm:extLst>
    </dgm:pt>
    <dgm:pt modelId="{26293268-2610-4FF9-A8BB-CFFE94363973}" type="pres">
      <dgm:prSet presAssocID="{AA2151CA-B646-4916-881F-8A7A931AAAC3}" presName="spaceRect" presStyleCnt="0"/>
      <dgm:spPr/>
    </dgm:pt>
    <dgm:pt modelId="{19BD9474-3174-4991-83EB-1DFC826141A7}" type="pres">
      <dgm:prSet presAssocID="{AA2151CA-B646-4916-881F-8A7A931AAAC3}" presName="parTx" presStyleLbl="revTx" presStyleIdx="3" presStyleCnt="6">
        <dgm:presLayoutVars>
          <dgm:chMax val="0"/>
          <dgm:chPref val="0"/>
        </dgm:presLayoutVars>
      </dgm:prSet>
      <dgm:spPr/>
    </dgm:pt>
    <dgm:pt modelId="{5B7C3E6D-74C7-4D28-9470-0AEE7903E20A}" type="pres">
      <dgm:prSet presAssocID="{7B08B55D-7251-476A-979D-34AD6BFD56CD}" presName="sibTrans" presStyleCnt="0"/>
      <dgm:spPr/>
    </dgm:pt>
    <dgm:pt modelId="{03EE2B9A-22F0-4153-9C4A-6FDAB3B788FC}" type="pres">
      <dgm:prSet presAssocID="{E967E4AB-757E-4E12-ADC9-B3C5C5E385BF}" presName="compNode" presStyleCnt="0"/>
      <dgm:spPr/>
    </dgm:pt>
    <dgm:pt modelId="{F1B2C7E0-D1AF-4B16-A168-BE2B2F269986}" type="pres">
      <dgm:prSet presAssocID="{E967E4AB-757E-4E12-ADC9-B3C5C5E385BF}" presName="bgRect" presStyleLbl="bgShp" presStyleIdx="4" presStyleCnt="6"/>
      <dgm:spPr/>
    </dgm:pt>
    <dgm:pt modelId="{CB909642-FD15-436C-A2DF-70CCADB2D866}" type="pres">
      <dgm:prSet presAssocID="{E967E4AB-757E-4E12-ADC9-B3C5C5E385BF}" presName="iconRect" presStyleLbl="node1" presStyleIdx="4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with solid fill"/>
        </a:ext>
      </dgm:extLst>
    </dgm:pt>
    <dgm:pt modelId="{36110D72-CF14-4DFB-9B9B-01266288D361}" type="pres">
      <dgm:prSet presAssocID="{E967E4AB-757E-4E12-ADC9-B3C5C5E385BF}" presName="spaceRect" presStyleCnt="0"/>
      <dgm:spPr/>
    </dgm:pt>
    <dgm:pt modelId="{CEAC8F20-D0A3-49C2-BAF9-A965BAC124D8}" type="pres">
      <dgm:prSet presAssocID="{E967E4AB-757E-4E12-ADC9-B3C5C5E385BF}" presName="parTx" presStyleLbl="revTx" presStyleIdx="4" presStyleCnt="6">
        <dgm:presLayoutVars>
          <dgm:chMax val="0"/>
          <dgm:chPref val="0"/>
        </dgm:presLayoutVars>
      </dgm:prSet>
      <dgm:spPr/>
    </dgm:pt>
    <dgm:pt modelId="{D7C5FD10-3ED8-44FF-A961-351F29B9EFBD}" type="pres">
      <dgm:prSet presAssocID="{1A6C0D76-3180-4EE7-8B18-6679474FF656}" presName="sibTrans" presStyleCnt="0"/>
      <dgm:spPr/>
    </dgm:pt>
    <dgm:pt modelId="{3C27029D-27EB-4B50-8E17-BE7659A0E577}" type="pres">
      <dgm:prSet presAssocID="{A1C1B7BD-E046-486F-B638-0288ECBB6E95}" presName="compNode" presStyleCnt="0"/>
      <dgm:spPr/>
    </dgm:pt>
    <dgm:pt modelId="{2D526DE6-C9C8-4581-A3B1-DF58908DD9B3}" type="pres">
      <dgm:prSet presAssocID="{A1C1B7BD-E046-486F-B638-0288ECBB6E95}" presName="bgRect" presStyleLbl="bgShp" presStyleIdx="5" presStyleCnt="6"/>
      <dgm:spPr/>
    </dgm:pt>
    <dgm:pt modelId="{FA522B83-3A4D-42D7-9CD5-BC82DA4F8086}" type="pres">
      <dgm:prSet presAssocID="{A1C1B7BD-E046-486F-B638-0288ECBB6E9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10FF6045-1030-4A0F-8BDC-2E768A4FFC50}" type="pres">
      <dgm:prSet presAssocID="{A1C1B7BD-E046-486F-B638-0288ECBB6E95}" presName="spaceRect" presStyleCnt="0"/>
      <dgm:spPr/>
    </dgm:pt>
    <dgm:pt modelId="{DA4F4A48-226D-4C8E-A921-D7CB45C8F8D6}" type="pres">
      <dgm:prSet presAssocID="{A1C1B7BD-E046-486F-B638-0288ECBB6E9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E3B3603-9B9C-412C-AD03-EDBA0A604FC7}" type="presOf" srcId="{C8CFD603-9FED-4C34-9C6D-BCA5B54DDBB2}" destId="{692CA5DF-E522-4A4D-8BE8-DE86EFD91726}" srcOrd="0" destOrd="0" presId="urn:microsoft.com/office/officeart/2018/2/layout/IconVerticalSolidList"/>
    <dgm:cxn modelId="{191A0609-CC09-4926-A755-C434C303CBB2}" srcId="{51F85209-90A5-4785-BF42-76645B9A312C}" destId="{CC86FF0E-224A-46E6-94DB-6B06D2292BC2}" srcOrd="2" destOrd="0" parTransId="{814E4F00-0318-4231-AE65-EA2181E8280E}" sibTransId="{6DF5AD70-C98A-4AE1-9409-F719C9A5D03E}"/>
    <dgm:cxn modelId="{345D0431-5962-4602-88C6-4E0576C6E7D2}" srcId="{51F85209-90A5-4785-BF42-76645B9A312C}" destId="{A1C1B7BD-E046-486F-B638-0288ECBB6E95}" srcOrd="5" destOrd="0" parTransId="{820D138D-A4B5-4B2D-861B-1C5DCC7F1487}" sibTransId="{AC82F083-5E15-4C82-9FCA-DA84FACEAF64}"/>
    <dgm:cxn modelId="{CE0E7038-3EC3-4E4E-A5B1-94D3F104C35B}" srcId="{51F85209-90A5-4785-BF42-76645B9A312C}" destId="{AA2151CA-B646-4916-881F-8A7A931AAAC3}" srcOrd="3" destOrd="0" parTransId="{AC0B8DFD-0399-4834-8E77-F47D9E3D87F8}" sibTransId="{7B08B55D-7251-476A-979D-34AD6BFD56CD}"/>
    <dgm:cxn modelId="{A3843B48-F82A-477A-AA0B-EC5A932B47A0}" srcId="{51F85209-90A5-4785-BF42-76645B9A312C}" destId="{E967E4AB-757E-4E12-ADC9-B3C5C5E385BF}" srcOrd="4" destOrd="0" parTransId="{61B47606-0C43-4FDD-A336-692C785DC6C0}" sibTransId="{1A6C0D76-3180-4EE7-8B18-6679474FF656}"/>
    <dgm:cxn modelId="{7E7B4783-3B39-4E5B-888F-FEF45B3FF65D}" type="presOf" srcId="{A1C1B7BD-E046-486F-B638-0288ECBB6E95}" destId="{DA4F4A48-226D-4C8E-A921-D7CB45C8F8D6}" srcOrd="0" destOrd="0" presId="urn:microsoft.com/office/officeart/2018/2/layout/IconVerticalSolidList"/>
    <dgm:cxn modelId="{568B13A0-4041-4CB7-BBDC-35819041E27F}" type="presOf" srcId="{AA2151CA-B646-4916-881F-8A7A931AAAC3}" destId="{19BD9474-3174-4991-83EB-1DFC826141A7}" srcOrd="0" destOrd="0" presId="urn:microsoft.com/office/officeart/2018/2/layout/IconVerticalSolidList"/>
    <dgm:cxn modelId="{6CFC39AC-C591-40F3-A968-617977B53568}" type="presOf" srcId="{7D56E607-520F-49CC-87E8-2FE06EE6EEE7}" destId="{43D90A7E-4637-4BB7-9AAD-5D8E46E2D6BE}" srcOrd="0" destOrd="0" presId="urn:microsoft.com/office/officeart/2018/2/layout/IconVerticalSolidList"/>
    <dgm:cxn modelId="{451648AF-0E2D-467F-BBC6-F5CC0F72A819}" type="presOf" srcId="{E967E4AB-757E-4E12-ADC9-B3C5C5E385BF}" destId="{CEAC8F20-D0A3-49C2-BAF9-A965BAC124D8}" srcOrd="0" destOrd="0" presId="urn:microsoft.com/office/officeart/2018/2/layout/IconVerticalSolidList"/>
    <dgm:cxn modelId="{5F0948B1-D507-4DFA-A868-517B347B5BA0}" type="presOf" srcId="{CC86FF0E-224A-46E6-94DB-6B06D2292BC2}" destId="{9EDA7C11-DE34-4E01-A457-88AEA84A991F}" srcOrd="0" destOrd="0" presId="urn:microsoft.com/office/officeart/2018/2/layout/IconVerticalSolidList"/>
    <dgm:cxn modelId="{CBFD5BC9-DE42-4AE8-9AA4-489E5D963D69}" srcId="{51F85209-90A5-4785-BF42-76645B9A312C}" destId="{C8CFD603-9FED-4C34-9C6D-BCA5B54DDBB2}" srcOrd="1" destOrd="0" parTransId="{A4215D84-D5B2-466F-8573-14282BEA223E}" sibTransId="{28DD864B-C3F0-413A-97F2-72CDAE288705}"/>
    <dgm:cxn modelId="{F0D0B2D6-F2CC-400D-918C-503C9A10716B}" srcId="{51F85209-90A5-4785-BF42-76645B9A312C}" destId="{7D56E607-520F-49CC-87E8-2FE06EE6EEE7}" srcOrd="0" destOrd="0" parTransId="{6D3547C1-2D0B-4659-9071-9A42363A26D5}" sibTransId="{81A84FD4-FFBB-48B6-A279-96BCA7BDB3DE}"/>
    <dgm:cxn modelId="{7334E5DB-059A-4A13-9C2E-33A6AF100BD8}" type="presOf" srcId="{51F85209-90A5-4785-BF42-76645B9A312C}" destId="{909D3EC5-3FD1-465D-BCC6-CF147FFCDE64}" srcOrd="0" destOrd="0" presId="urn:microsoft.com/office/officeart/2018/2/layout/IconVerticalSolidList"/>
    <dgm:cxn modelId="{7BBF5FE9-1C1F-4226-BDA3-E2BBF2312822}" type="presParOf" srcId="{909D3EC5-3FD1-465D-BCC6-CF147FFCDE64}" destId="{9897EA7E-9996-4846-A658-CD6629341CBF}" srcOrd="0" destOrd="0" presId="urn:microsoft.com/office/officeart/2018/2/layout/IconVerticalSolidList"/>
    <dgm:cxn modelId="{37DC21FF-274E-462C-9631-F1CE45167B08}" type="presParOf" srcId="{9897EA7E-9996-4846-A658-CD6629341CBF}" destId="{BBCE11ED-F308-4405-AEC7-7096514F1121}" srcOrd="0" destOrd="0" presId="urn:microsoft.com/office/officeart/2018/2/layout/IconVerticalSolidList"/>
    <dgm:cxn modelId="{A65204E3-3796-4018-89FF-056E40E7BEA5}" type="presParOf" srcId="{9897EA7E-9996-4846-A658-CD6629341CBF}" destId="{6DF1B09C-7C6A-42F1-97D2-7517F23D39AB}" srcOrd="1" destOrd="0" presId="urn:microsoft.com/office/officeart/2018/2/layout/IconVerticalSolidList"/>
    <dgm:cxn modelId="{647FE01D-8791-4C3C-ACD4-C2DE9251FA6E}" type="presParOf" srcId="{9897EA7E-9996-4846-A658-CD6629341CBF}" destId="{8FBB8014-56B6-415B-94BC-3D1BF4F98D4D}" srcOrd="2" destOrd="0" presId="urn:microsoft.com/office/officeart/2018/2/layout/IconVerticalSolidList"/>
    <dgm:cxn modelId="{2B0538E0-02F7-4DB7-9BCD-29FD75F9B3A7}" type="presParOf" srcId="{9897EA7E-9996-4846-A658-CD6629341CBF}" destId="{43D90A7E-4637-4BB7-9AAD-5D8E46E2D6BE}" srcOrd="3" destOrd="0" presId="urn:microsoft.com/office/officeart/2018/2/layout/IconVerticalSolidList"/>
    <dgm:cxn modelId="{09A7C6CC-B846-4BF7-87EB-6549E24066C5}" type="presParOf" srcId="{909D3EC5-3FD1-465D-BCC6-CF147FFCDE64}" destId="{23C2962A-2F8C-4AC0-894B-27819EA802FF}" srcOrd="1" destOrd="0" presId="urn:microsoft.com/office/officeart/2018/2/layout/IconVerticalSolidList"/>
    <dgm:cxn modelId="{E62424EF-E87A-4EB8-9BD1-316A7492EC70}" type="presParOf" srcId="{909D3EC5-3FD1-465D-BCC6-CF147FFCDE64}" destId="{239A85FE-6DA3-48C1-8BB5-B76A2A988677}" srcOrd="2" destOrd="0" presId="urn:microsoft.com/office/officeart/2018/2/layout/IconVerticalSolidList"/>
    <dgm:cxn modelId="{91A30F37-EA03-4B02-AE05-97322F14FEE5}" type="presParOf" srcId="{239A85FE-6DA3-48C1-8BB5-B76A2A988677}" destId="{39878E2A-8E79-49D5-9399-66A6246A4C2D}" srcOrd="0" destOrd="0" presId="urn:microsoft.com/office/officeart/2018/2/layout/IconVerticalSolidList"/>
    <dgm:cxn modelId="{F502D8F3-CCB7-4940-BB3B-0B90F7865368}" type="presParOf" srcId="{239A85FE-6DA3-48C1-8BB5-B76A2A988677}" destId="{10FDB5CC-2D52-4C20-967D-2D9FDB7C0BC0}" srcOrd="1" destOrd="0" presId="urn:microsoft.com/office/officeart/2018/2/layout/IconVerticalSolidList"/>
    <dgm:cxn modelId="{507F1997-8178-4FCF-BCCC-561A6BD857E0}" type="presParOf" srcId="{239A85FE-6DA3-48C1-8BB5-B76A2A988677}" destId="{66C0B920-629C-42BB-AA56-FB1070D3DA95}" srcOrd="2" destOrd="0" presId="urn:microsoft.com/office/officeart/2018/2/layout/IconVerticalSolidList"/>
    <dgm:cxn modelId="{B48CD38F-ECD9-43C8-95E8-02188F9B579F}" type="presParOf" srcId="{239A85FE-6DA3-48C1-8BB5-B76A2A988677}" destId="{692CA5DF-E522-4A4D-8BE8-DE86EFD91726}" srcOrd="3" destOrd="0" presId="urn:microsoft.com/office/officeart/2018/2/layout/IconVerticalSolidList"/>
    <dgm:cxn modelId="{AD3DEC2D-D7AD-4694-B125-32B1F682F136}" type="presParOf" srcId="{909D3EC5-3FD1-465D-BCC6-CF147FFCDE64}" destId="{416117A3-4C14-4757-87C6-3ABE8700AE0E}" srcOrd="3" destOrd="0" presId="urn:microsoft.com/office/officeart/2018/2/layout/IconVerticalSolidList"/>
    <dgm:cxn modelId="{BD00EA7A-1E27-4CA3-9632-F1FA1C943224}" type="presParOf" srcId="{909D3EC5-3FD1-465D-BCC6-CF147FFCDE64}" destId="{68CFF042-1B45-4FE5-9249-BAB4B7172314}" srcOrd="4" destOrd="0" presId="urn:microsoft.com/office/officeart/2018/2/layout/IconVerticalSolidList"/>
    <dgm:cxn modelId="{FE3AF826-4BC0-4182-A9F6-7DC0D71954A8}" type="presParOf" srcId="{68CFF042-1B45-4FE5-9249-BAB4B7172314}" destId="{CAC8E999-3B16-4054-ACD8-7431C4EA9FF7}" srcOrd="0" destOrd="0" presId="urn:microsoft.com/office/officeart/2018/2/layout/IconVerticalSolidList"/>
    <dgm:cxn modelId="{742DB487-255B-45D2-9E62-7A7CB302938A}" type="presParOf" srcId="{68CFF042-1B45-4FE5-9249-BAB4B7172314}" destId="{B4AC0E1E-D205-457F-8EA5-651B5A1195CF}" srcOrd="1" destOrd="0" presId="urn:microsoft.com/office/officeart/2018/2/layout/IconVerticalSolidList"/>
    <dgm:cxn modelId="{2DDA9E70-7F4F-4698-9E1C-96A44EE04F95}" type="presParOf" srcId="{68CFF042-1B45-4FE5-9249-BAB4B7172314}" destId="{B5090E24-B398-4E1F-B21C-E3155659DA3D}" srcOrd="2" destOrd="0" presId="urn:microsoft.com/office/officeart/2018/2/layout/IconVerticalSolidList"/>
    <dgm:cxn modelId="{C68E652F-7691-479F-BDC2-1972AE6F9B3A}" type="presParOf" srcId="{68CFF042-1B45-4FE5-9249-BAB4B7172314}" destId="{9EDA7C11-DE34-4E01-A457-88AEA84A991F}" srcOrd="3" destOrd="0" presId="urn:microsoft.com/office/officeart/2018/2/layout/IconVerticalSolidList"/>
    <dgm:cxn modelId="{05E444C8-C37B-4469-B1B7-C1B75BEEC843}" type="presParOf" srcId="{909D3EC5-3FD1-465D-BCC6-CF147FFCDE64}" destId="{30C1BE36-2ADF-4406-A112-71FD26C95183}" srcOrd="5" destOrd="0" presId="urn:microsoft.com/office/officeart/2018/2/layout/IconVerticalSolidList"/>
    <dgm:cxn modelId="{9F686AC0-3CAC-44A5-A4C6-9FA3269A69F6}" type="presParOf" srcId="{909D3EC5-3FD1-465D-BCC6-CF147FFCDE64}" destId="{978E132E-742E-4810-B770-4AF0DBE40D61}" srcOrd="6" destOrd="0" presId="urn:microsoft.com/office/officeart/2018/2/layout/IconVerticalSolidList"/>
    <dgm:cxn modelId="{672C2AE3-983C-427F-8547-CCC5DDAC2264}" type="presParOf" srcId="{978E132E-742E-4810-B770-4AF0DBE40D61}" destId="{01F6D33B-EE74-458D-ABE4-A4B337B7FD74}" srcOrd="0" destOrd="0" presId="urn:microsoft.com/office/officeart/2018/2/layout/IconVerticalSolidList"/>
    <dgm:cxn modelId="{D41712FF-5286-47D5-A623-A144F195C39B}" type="presParOf" srcId="{978E132E-742E-4810-B770-4AF0DBE40D61}" destId="{0CFE93BD-5855-42CF-B029-AE9AEAA14AD1}" srcOrd="1" destOrd="0" presId="urn:microsoft.com/office/officeart/2018/2/layout/IconVerticalSolidList"/>
    <dgm:cxn modelId="{56765E7B-7163-458E-A9ED-9172574D34DC}" type="presParOf" srcId="{978E132E-742E-4810-B770-4AF0DBE40D61}" destId="{26293268-2610-4FF9-A8BB-CFFE94363973}" srcOrd="2" destOrd="0" presId="urn:microsoft.com/office/officeart/2018/2/layout/IconVerticalSolidList"/>
    <dgm:cxn modelId="{CE142558-7214-471C-B3DB-E810D9DA6CF9}" type="presParOf" srcId="{978E132E-742E-4810-B770-4AF0DBE40D61}" destId="{19BD9474-3174-4991-83EB-1DFC826141A7}" srcOrd="3" destOrd="0" presId="urn:microsoft.com/office/officeart/2018/2/layout/IconVerticalSolidList"/>
    <dgm:cxn modelId="{6DABAA71-0D5B-4D65-919A-C39B5517FFA9}" type="presParOf" srcId="{909D3EC5-3FD1-465D-BCC6-CF147FFCDE64}" destId="{5B7C3E6D-74C7-4D28-9470-0AEE7903E20A}" srcOrd="7" destOrd="0" presId="urn:microsoft.com/office/officeart/2018/2/layout/IconVerticalSolidList"/>
    <dgm:cxn modelId="{02E60A54-6417-4672-9E01-E491B2F5E2A5}" type="presParOf" srcId="{909D3EC5-3FD1-465D-BCC6-CF147FFCDE64}" destId="{03EE2B9A-22F0-4153-9C4A-6FDAB3B788FC}" srcOrd="8" destOrd="0" presId="urn:microsoft.com/office/officeart/2018/2/layout/IconVerticalSolidList"/>
    <dgm:cxn modelId="{E5A2B211-0887-4A28-BD71-37EBA329724C}" type="presParOf" srcId="{03EE2B9A-22F0-4153-9C4A-6FDAB3B788FC}" destId="{F1B2C7E0-D1AF-4B16-A168-BE2B2F269986}" srcOrd="0" destOrd="0" presId="urn:microsoft.com/office/officeart/2018/2/layout/IconVerticalSolidList"/>
    <dgm:cxn modelId="{066AAFB3-5717-492B-8AD4-F25B87F05E28}" type="presParOf" srcId="{03EE2B9A-22F0-4153-9C4A-6FDAB3B788FC}" destId="{CB909642-FD15-436C-A2DF-70CCADB2D866}" srcOrd="1" destOrd="0" presId="urn:microsoft.com/office/officeart/2018/2/layout/IconVerticalSolidList"/>
    <dgm:cxn modelId="{654460C4-55AF-483A-8065-B3C533327F66}" type="presParOf" srcId="{03EE2B9A-22F0-4153-9C4A-6FDAB3B788FC}" destId="{36110D72-CF14-4DFB-9B9B-01266288D361}" srcOrd="2" destOrd="0" presId="urn:microsoft.com/office/officeart/2018/2/layout/IconVerticalSolidList"/>
    <dgm:cxn modelId="{FC9EAD11-D494-4732-9244-AB8B2697A25F}" type="presParOf" srcId="{03EE2B9A-22F0-4153-9C4A-6FDAB3B788FC}" destId="{CEAC8F20-D0A3-49C2-BAF9-A965BAC124D8}" srcOrd="3" destOrd="0" presId="urn:microsoft.com/office/officeart/2018/2/layout/IconVerticalSolidList"/>
    <dgm:cxn modelId="{B91E0C8C-A5A4-4A9E-BC8A-2F2087394562}" type="presParOf" srcId="{909D3EC5-3FD1-465D-BCC6-CF147FFCDE64}" destId="{D7C5FD10-3ED8-44FF-A961-351F29B9EFBD}" srcOrd="9" destOrd="0" presId="urn:microsoft.com/office/officeart/2018/2/layout/IconVerticalSolidList"/>
    <dgm:cxn modelId="{923BD7AE-04CE-4A42-815E-B76E524BBC8E}" type="presParOf" srcId="{909D3EC5-3FD1-465D-BCC6-CF147FFCDE64}" destId="{3C27029D-27EB-4B50-8E17-BE7659A0E577}" srcOrd="10" destOrd="0" presId="urn:microsoft.com/office/officeart/2018/2/layout/IconVerticalSolidList"/>
    <dgm:cxn modelId="{C96B6B34-8E97-41B7-BB3B-7908D5FBE87C}" type="presParOf" srcId="{3C27029D-27EB-4B50-8E17-BE7659A0E577}" destId="{2D526DE6-C9C8-4581-A3B1-DF58908DD9B3}" srcOrd="0" destOrd="0" presId="urn:microsoft.com/office/officeart/2018/2/layout/IconVerticalSolidList"/>
    <dgm:cxn modelId="{9F8D4C06-A0A1-4E21-A5D8-27E4A5FAD0AC}" type="presParOf" srcId="{3C27029D-27EB-4B50-8E17-BE7659A0E577}" destId="{FA522B83-3A4D-42D7-9CD5-BC82DA4F8086}" srcOrd="1" destOrd="0" presId="urn:microsoft.com/office/officeart/2018/2/layout/IconVerticalSolidList"/>
    <dgm:cxn modelId="{DDF8937C-D4BA-49B7-8C72-07F8E8516C11}" type="presParOf" srcId="{3C27029D-27EB-4B50-8E17-BE7659A0E577}" destId="{10FF6045-1030-4A0F-8BDC-2E768A4FFC50}" srcOrd="2" destOrd="0" presId="urn:microsoft.com/office/officeart/2018/2/layout/IconVerticalSolidList"/>
    <dgm:cxn modelId="{44318CD4-57B5-428D-9786-4AF3BCB1AFEC}" type="presParOf" srcId="{3C27029D-27EB-4B50-8E17-BE7659A0E577}" destId="{DA4F4A48-226D-4C8E-A921-D7CB45C8F8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5B4A1-3405-4948-B682-A5CB1E992021}">
      <dsp:nvSpPr>
        <dsp:cNvPr id="0" name=""/>
        <dsp:cNvSpPr/>
      </dsp:nvSpPr>
      <dsp:spPr>
        <a:xfrm>
          <a:off x="0" y="0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8CD52-BB7E-4677-9389-FACE7C71D064}">
      <dsp:nvSpPr>
        <dsp:cNvPr id="0" name=""/>
        <dsp:cNvSpPr/>
      </dsp:nvSpPr>
      <dsp:spPr>
        <a:xfrm>
          <a:off x="207516" y="155167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2A21C-3481-4289-A3E0-A55754A9A49F}">
      <dsp:nvSpPr>
        <dsp:cNvPr id="0" name=""/>
        <dsp:cNvSpPr/>
      </dsp:nvSpPr>
      <dsp:spPr>
        <a:xfrm>
          <a:off x="792333" y="816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Introduction</a:t>
          </a:r>
        </a:p>
      </dsp:txBody>
      <dsp:txXfrm>
        <a:off x="792333" y="816"/>
        <a:ext cx="6016283" cy="686003"/>
      </dsp:txXfrm>
    </dsp:sp>
    <dsp:sp modelId="{5950EB7E-9C10-4B50-9B2F-A3D63EB2DD61}">
      <dsp:nvSpPr>
        <dsp:cNvPr id="0" name=""/>
        <dsp:cNvSpPr/>
      </dsp:nvSpPr>
      <dsp:spPr>
        <a:xfrm>
          <a:off x="0" y="858320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F4529-A4CD-4545-A4FE-834E65F755CA}">
      <dsp:nvSpPr>
        <dsp:cNvPr id="0" name=""/>
        <dsp:cNvSpPr/>
      </dsp:nvSpPr>
      <dsp:spPr>
        <a:xfrm>
          <a:off x="207516" y="1012671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3160F-2295-449A-8B0D-D1A9A79CDCD0}">
      <dsp:nvSpPr>
        <dsp:cNvPr id="0" name=""/>
        <dsp:cNvSpPr/>
      </dsp:nvSpPr>
      <dsp:spPr>
        <a:xfrm>
          <a:off x="792333" y="858320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Data Set </a:t>
          </a:r>
        </a:p>
      </dsp:txBody>
      <dsp:txXfrm>
        <a:off x="792333" y="858320"/>
        <a:ext cx="6016283" cy="686003"/>
      </dsp:txXfrm>
    </dsp:sp>
    <dsp:sp modelId="{FE7A8FE1-F54F-4FD0-9AEF-D331D81B1476}">
      <dsp:nvSpPr>
        <dsp:cNvPr id="0" name=""/>
        <dsp:cNvSpPr/>
      </dsp:nvSpPr>
      <dsp:spPr>
        <a:xfrm>
          <a:off x="0" y="1715825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4661C-DD9B-4332-BDA6-CDA56B839EDB}">
      <dsp:nvSpPr>
        <dsp:cNvPr id="0" name=""/>
        <dsp:cNvSpPr/>
      </dsp:nvSpPr>
      <dsp:spPr>
        <a:xfrm>
          <a:off x="207516" y="1870176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22F1E-7A14-44B9-B8C8-954B008BAC99}">
      <dsp:nvSpPr>
        <dsp:cNvPr id="0" name=""/>
        <dsp:cNvSpPr/>
      </dsp:nvSpPr>
      <dsp:spPr>
        <a:xfrm>
          <a:off x="792333" y="1715825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Data Exploration </a:t>
          </a:r>
        </a:p>
      </dsp:txBody>
      <dsp:txXfrm>
        <a:off x="792333" y="1715825"/>
        <a:ext cx="6016283" cy="686003"/>
      </dsp:txXfrm>
    </dsp:sp>
    <dsp:sp modelId="{8C4DB697-19AE-444D-AFE2-0AE9BC29FF81}">
      <dsp:nvSpPr>
        <dsp:cNvPr id="0" name=""/>
        <dsp:cNvSpPr/>
      </dsp:nvSpPr>
      <dsp:spPr>
        <a:xfrm>
          <a:off x="0" y="2573329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3330B-97A8-44C7-B702-CA613CA49B9D}">
      <dsp:nvSpPr>
        <dsp:cNvPr id="0" name=""/>
        <dsp:cNvSpPr/>
      </dsp:nvSpPr>
      <dsp:spPr>
        <a:xfrm>
          <a:off x="207516" y="2727680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5E143-A93F-4C09-AF03-4B661EEB3A95}">
      <dsp:nvSpPr>
        <dsp:cNvPr id="0" name=""/>
        <dsp:cNvSpPr/>
      </dsp:nvSpPr>
      <dsp:spPr>
        <a:xfrm>
          <a:off x="792333" y="2573329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dirty="0"/>
            <a:t>4. Features Extraction</a:t>
          </a:r>
          <a:endParaRPr lang="en-US" sz="1800" kern="1200" dirty="0"/>
        </a:p>
      </dsp:txBody>
      <dsp:txXfrm>
        <a:off x="792333" y="2573329"/>
        <a:ext cx="6016283" cy="686003"/>
      </dsp:txXfrm>
    </dsp:sp>
    <dsp:sp modelId="{5A1D750B-4FEA-49AF-92E1-2A81FA68472D}">
      <dsp:nvSpPr>
        <dsp:cNvPr id="0" name=""/>
        <dsp:cNvSpPr/>
      </dsp:nvSpPr>
      <dsp:spPr>
        <a:xfrm>
          <a:off x="0" y="3430833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5AEF3-C53D-46B2-B306-BEDCA053A367}">
      <dsp:nvSpPr>
        <dsp:cNvPr id="0" name=""/>
        <dsp:cNvSpPr/>
      </dsp:nvSpPr>
      <dsp:spPr>
        <a:xfrm>
          <a:off x="207516" y="3585184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D7FEB-4A78-4048-AC13-BBB66BD7C6F3}">
      <dsp:nvSpPr>
        <dsp:cNvPr id="0" name=""/>
        <dsp:cNvSpPr/>
      </dsp:nvSpPr>
      <dsp:spPr>
        <a:xfrm>
          <a:off x="792333" y="3430833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dirty="0"/>
            <a:t>5. </a:t>
          </a:r>
          <a:r>
            <a:rPr lang="en-US" sz="1800" kern="1200" dirty="0"/>
            <a:t>WSI Embedding Optimization</a:t>
          </a:r>
        </a:p>
      </dsp:txBody>
      <dsp:txXfrm>
        <a:off x="792333" y="3430833"/>
        <a:ext cx="6016283" cy="686003"/>
      </dsp:txXfrm>
    </dsp:sp>
    <dsp:sp modelId="{3132BFF0-B777-452D-9C67-2D45E4C292A1}">
      <dsp:nvSpPr>
        <dsp:cNvPr id="0" name=""/>
        <dsp:cNvSpPr/>
      </dsp:nvSpPr>
      <dsp:spPr>
        <a:xfrm>
          <a:off x="0" y="4288338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949A1-7A59-4E20-A31C-A5B433C70A55}">
      <dsp:nvSpPr>
        <dsp:cNvPr id="0" name=""/>
        <dsp:cNvSpPr/>
      </dsp:nvSpPr>
      <dsp:spPr>
        <a:xfrm>
          <a:off x="207516" y="4442689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4DC32-97A4-4841-BA96-0665396E9740}">
      <dsp:nvSpPr>
        <dsp:cNvPr id="0" name=""/>
        <dsp:cNvSpPr/>
      </dsp:nvSpPr>
      <dsp:spPr>
        <a:xfrm>
          <a:off x="792333" y="4288338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dirty="0"/>
            <a:t>6. Data Fusion</a:t>
          </a:r>
          <a:endParaRPr lang="en-US" sz="1800" kern="1200" dirty="0"/>
        </a:p>
      </dsp:txBody>
      <dsp:txXfrm>
        <a:off x="792333" y="4288338"/>
        <a:ext cx="6016283" cy="686003"/>
      </dsp:txXfrm>
    </dsp:sp>
    <dsp:sp modelId="{00B329C5-A83B-4F43-B98F-A0B6C8EE8A9C}">
      <dsp:nvSpPr>
        <dsp:cNvPr id="0" name=""/>
        <dsp:cNvSpPr/>
      </dsp:nvSpPr>
      <dsp:spPr>
        <a:xfrm>
          <a:off x="0" y="5145842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46F22-D6CC-4764-933B-DA50605EA8BE}">
      <dsp:nvSpPr>
        <dsp:cNvPr id="0" name=""/>
        <dsp:cNvSpPr/>
      </dsp:nvSpPr>
      <dsp:spPr>
        <a:xfrm>
          <a:off x="207516" y="5300193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98AD3-DD68-42D6-A9E4-97A9A9C22D26}">
      <dsp:nvSpPr>
        <dsp:cNvPr id="0" name=""/>
        <dsp:cNvSpPr/>
      </dsp:nvSpPr>
      <dsp:spPr>
        <a:xfrm>
          <a:off x="792333" y="5145842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7. Results</a:t>
          </a:r>
        </a:p>
      </dsp:txBody>
      <dsp:txXfrm>
        <a:off x="792333" y="5145842"/>
        <a:ext cx="6016283" cy="686003"/>
      </dsp:txXfrm>
    </dsp:sp>
    <dsp:sp modelId="{53A46533-73F6-4CF9-8565-DB1C64CC6CE3}">
      <dsp:nvSpPr>
        <dsp:cNvPr id="0" name=""/>
        <dsp:cNvSpPr/>
      </dsp:nvSpPr>
      <dsp:spPr>
        <a:xfrm>
          <a:off x="0" y="6003346"/>
          <a:ext cx="6808617" cy="68600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F3028F-8981-4864-B4DC-F1E2884F5248}">
      <dsp:nvSpPr>
        <dsp:cNvPr id="0" name=""/>
        <dsp:cNvSpPr/>
      </dsp:nvSpPr>
      <dsp:spPr>
        <a:xfrm>
          <a:off x="207516" y="6157697"/>
          <a:ext cx="377301" cy="37730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93D85-25A3-4A62-8566-034A32A405E9}">
      <dsp:nvSpPr>
        <dsp:cNvPr id="0" name=""/>
        <dsp:cNvSpPr/>
      </dsp:nvSpPr>
      <dsp:spPr>
        <a:xfrm>
          <a:off x="792333" y="6003346"/>
          <a:ext cx="6016283" cy="686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02" tIns="72602" rIns="72602" bIns="7260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8. Conclusion and future research directions</a:t>
          </a:r>
        </a:p>
      </dsp:txBody>
      <dsp:txXfrm>
        <a:off x="792333" y="6003346"/>
        <a:ext cx="6016283" cy="686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E11ED-F308-4405-AEC7-7096514F1121}">
      <dsp:nvSpPr>
        <dsp:cNvPr id="0" name=""/>
        <dsp:cNvSpPr/>
      </dsp:nvSpPr>
      <dsp:spPr>
        <a:xfrm>
          <a:off x="0" y="1707"/>
          <a:ext cx="7467435" cy="727672"/>
        </a:xfrm>
        <a:prstGeom prst="roundRect">
          <a:avLst>
            <a:gd name="adj" fmla="val 10000"/>
          </a:avLst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DF1B09C-7C6A-42F1-97D2-7517F23D39AB}">
      <dsp:nvSpPr>
        <dsp:cNvPr id="0" name=""/>
        <dsp:cNvSpPr/>
      </dsp:nvSpPr>
      <dsp:spPr>
        <a:xfrm>
          <a:off x="220120" y="165433"/>
          <a:ext cx="400219" cy="4002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D90A7E-4637-4BB7-9AAD-5D8E46E2D6BE}">
      <dsp:nvSpPr>
        <dsp:cNvPr id="0" name=""/>
        <dsp:cNvSpPr/>
      </dsp:nvSpPr>
      <dsp:spPr>
        <a:xfrm>
          <a:off x="840461" y="1707"/>
          <a:ext cx="6626973" cy="72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12" tIns="77012" rIns="77012" bIns="77012" numCol="1" spcCol="1270" anchor="ctr" anchorCtr="0">
          <a:noAutofit/>
        </a:bodyPr>
        <a:lstStyle/>
        <a:p>
          <a:pPr marL="0" lvl="0" indent="0" algn="ct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/>
            <a:t>תת-הסוג של סרטן הכליות</a:t>
          </a:r>
          <a:endParaRPr lang="en-IL" sz="1800" kern="1200" dirty="0"/>
        </a:p>
      </dsp:txBody>
      <dsp:txXfrm>
        <a:off x="840461" y="1707"/>
        <a:ext cx="6626973" cy="727672"/>
      </dsp:txXfrm>
    </dsp:sp>
    <dsp:sp modelId="{39878E2A-8E79-49D5-9399-66A6246A4C2D}">
      <dsp:nvSpPr>
        <dsp:cNvPr id="0" name=""/>
        <dsp:cNvSpPr/>
      </dsp:nvSpPr>
      <dsp:spPr>
        <a:xfrm>
          <a:off x="0" y="911297"/>
          <a:ext cx="7467435" cy="727672"/>
        </a:xfrm>
        <a:prstGeom prst="roundRect">
          <a:avLst>
            <a:gd name="adj" fmla="val 10000"/>
          </a:avLst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FDB5CC-2D52-4C20-967D-2D9FDB7C0BC0}">
      <dsp:nvSpPr>
        <dsp:cNvPr id="0" name=""/>
        <dsp:cNvSpPr/>
      </dsp:nvSpPr>
      <dsp:spPr>
        <a:xfrm>
          <a:off x="220120" y="1075024"/>
          <a:ext cx="400219" cy="400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92CA5DF-E522-4A4D-8BE8-DE86EFD91726}">
      <dsp:nvSpPr>
        <dsp:cNvPr id="0" name=""/>
        <dsp:cNvSpPr/>
      </dsp:nvSpPr>
      <dsp:spPr>
        <a:xfrm>
          <a:off x="840461" y="911297"/>
          <a:ext cx="6626973" cy="72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12" tIns="77012" rIns="77012" bIns="77012" numCol="1" spcCol="1270" anchor="ctr" anchorCtr="0">
          <a:noAutofit/>
        </a:bodyPr>
        <a:lstStyle/>
        <a:p>
          <a:pPr marL="0" lvl="0" indent="0" algn="ct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/>
            <a:t>תת-הסוג הנפוץ ביותר בסרטן כליות כ75% מהמקרים.</a:t>
          </a:r>
          <a:endParaRPr lang="en-US" sz="1800" kern="1200" dirty="0"/>
        </a:p>
      </dsp:txBody>
      <dsp:txXfrm>
        <a:off x="840461" y="911297"/>
        <a:ext cx="6626973" cy="727672"/>
      </dsp:txXfrm>
    </dsp:sp>
    <dsp:sp modelId="{CAC8E999-3B16-4054-ACD8-7431C4EA9FF7}">
      <dsp:nvSpPr>
        <dsp:cNvPr id="0" name=""/>
        <dsp:cNvSpPr/>
      </dsp:nvSpPr>
      <dsp:spPr>
        <a:xfrm>
          <a:off x="0" y="1820887"/>
          <a:ext cx="7467435" cy="727672"/>
        </a:xfrm>
        <a:prstGeom prst="roundRect">
          <a:avLst>
            <a:gd name="adj" fmla="val 10000"/>
          </a:avLst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4AC0E1E-D205-457F-8EA5-651B5A1195CF}">
      <dsp:nvSpPr>
        <dsp:cNvPr id="0" name=""/>
        <dsp:cNvSpPr/>
      </dsp:nvSpPr>
      <dsp:spPr>
        <a:xfrm>
          <a:off x="220120" y="1984614"/>
          <a:ext cx="400219" cy="4002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EDA7C11-DE34-4E01-A457-88AEA84A991F}">
      <dsp:nvSpPr>
        <dsp:cNvPr id="0" name=""/>
        <dsp:cNvSpPr/>
      </dsp:nvSpPr>
      <dsp:spPr>
        <a:xfrm>
          <a:off x="840461" y="1820887"/>
          <a:ext cx="6626973" cy="72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12" tIns="77012" rIns="77012" bIns="77012" numCol="1" spcCol="1270" anchor="ctr" anchorCtr="0">
          <a:noAutofit/>
        </a:bodyPr>
        <a:lstStyle/>
        <a:p>
          <a:pPr marL="0" lvl="0" indent="0" algn="ct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/>
            <a:t>מחלה המאופיינת בשונות גבוהה בין חולים.</a:t>
          </a:r>
          <a:endParaRPr lang="en-IL" sz="1800" kern="1200" dirty="0"/>
        </a:p>
      </dsp:txBody>
      <dsp:txXfrm>
        <a:off x="840461" y="1820887"/>
        <a:ext cx="6626973" cy="727672"/>
      </dsp:txXfrm>
    </dsp:sp>
    <dsp:sp modelId="{01F6D33B-EE74-458D-ABE4-A4B337B7FD74}">
      <dsp:nvSpPr>
        <dsp:cNvPr id="0" name=""/>
        <dsp:cNvSpPr/>
      </dsp:nvSpPr>
      <dsp:spPr>
        <a:xfrm>
          <a:off x="0" y="2730478"/>
          <a:ext cx="7467435" cy="727672"/>
        </a:xfrm>
        <a:prstGeom prst="roundRect">
          <a:avLst>
            <a:gd name="adj" fmla="val 10000"/>
          </a:avLst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CFE93BD-5855-42CF-B029-AE9AEAA14AD1}">
      <dsp:nvSpPr>
        <dsp:cNvPr id="0" name=""/>
        <dsp:cNvSpPr/>
      </dsp:nvSpPr>
      <dsp:spPr>
        <a:xfrm>
          <a:off x="220120" y="2894204"/>
          <a:ext cx="400219" cy="4002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9BD9474-3174-4991-83EB-1DFC826141A7}">
      <dsp:nvSpPr>
        <dsp:cNvPr id="0" name=""/>
        <dsp:cNvSpPr/>
      </dsp:nvSpPr>
      <dsp:spPr>
        <a:xfrm>
          <a:off x="840461" y="2730478"/>
          <a:ext cx="6626973" cy="72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12" tIns="77012" rIns="77012" bIns="77012" numCol="1" spcCol="1270" anchor="ctr" anchorCtr="0">
          <a:noAutofit/>
        </a:bodyPr>
        <a:lstStyle/>
        <a:p>
          <a:pPr marL="0" lvl="0" indent="0" algn="ct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/>
            <a:t>מטרה המחקר:</a:t>
          </a:r>
          <a:r>
            <a:rPr lang="en-US" sz="1800" kern="1200" dirty="0"/>
            <a:t> </a:t>
          </a:r>
          <a:r>
            <a:rPr lang="he-IL" sz="1800" kern="1200" dirty="0"/>
            <a:t>ליצר מערכת למידה רב-מודאליות לשילוב מקורות שונים של נתונים רפואיים</a:t>
          </a:r>
          <a:r>
            <a:rPr lang="en-US" sz="1800" kern="1200" dirty="0"/>
            <a:t>.</a:t>
          </a:r>
        </a:p>
      </dsp:txBody>
      <dsp:txXfrm>
        <a:off x="840461" y="2730478"/>
        <a:ext cx="6626973" cy="727672"/>
      </dsp:txXfrm>
    </dsp:sp>
    <dsp:sp modelId="{F1B2C7E0-D1AF-4B16-A168-BE2B2F269986}">
      <dsp:nvSpPr>
        <dsp:cNvPr id="0" name=""/>
        <dsp:cNvSpPr/>
      </dsp:nvSpPr>
      <dsp:spPr>
        <a:xfrm>
          <a:off x="0" y="3640068"/>
          <a:ext cx="7467435" cy="727672"/>
        </a:xfrm>
        <a:prstGeom prst="roundRect">
          <a:avLst>
            <a:gd name="adj" fmla="val 10000"/>
          </a:avLst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B909642-FD15-436C-A2DF-70CCADB2D866}">
      <dsp:nvSpPr>
        <dsp:cNvPr id="0" name=""/>
        <dsp:cNvSpPr/>
      </dsp:nvSpPr>
      <dsp:spPr>
        <a:xfrm>
          <a:off x="220120" y="3803794"/>
          <a:ext cx="400219" cy="40021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AC8F20-D0A3-49C2-BAF9-A965BAC124D8}">
      <dsp:nvSpPr>
        <dsp:cNvPr id="0" name=""/>
        <dsp:cNvSpPr/>
      </dsp:nvSpPr>
      <dsp:spPr>
        <a:xfrm>
          <a:off x="840461" y="3640068"/>
          <a:ext cx="6626973" cy="72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12" tIns="77012" rIns="77012" bIns="77012" numCol="1" spcCol="1270" anchor="ctr" anchorCtr="0">
          <a:noAutofit/>
        </a:bodyPr>
        <a:lstStyle/>
        <a:p>
          <a:pPr marL="0" lvl="0" indent="0" algn="ct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/>
            <a:t>משימה המחקר:</a:t>
          </a:r>
          <a:r>
            <a:rPr lang="en-US" sz="1800" kern="1200" dirty="0"/>
            <a:t> </a:t>
          </a:r>
          <a:r>
            <a:rPr lang="he-IL" sz="1800" kern="1200" dirty="0"/>
            <a:t>פיתוח מודל חיזוי בינארי להערכת הישרדות לאחר 12 חודשים עבור מטופלים שאובחנו כחולים במחלה </a:t>
          </a:r>
          <a:r>
            <a:rPr lang="en-US" sz="1800" kern="1200" dirty="0"/>
            <a:t>CRCC</a:t>
          </a:r>
          <a:r>
            <a:rPr lang="he-IL" sz="1800" kern="1200" dirty="0"/>
            <a:t> </a:t>
          </a:r>
          <a:endParaRPr lang="en-US" sz="1800" kern="1200" dirty="0"/>
        </a:p>
      </dsp:txBody>
      <dsp:txXfrm>
        <a:off x="840461" y="3640068"/>
        <a:ext cx="6626973" cy="727672"/>
      </dsp:txXfrm>
    </dsp:sp>
    <dsp:sp modelId="{2D526DE6-C9C8-4581-A3B1-DF58908DD9B3}">
      <dsp:nvSpPr>
        <dsp:cNvPr id="0" name=""/>
        <dsp:cNvSpPr/>
      </dsp:nvSpPr>
      <dsp:spPr>
        <a:xfrm>
          <a:off x="0" y="4549658"/>
          <a:ext cx="7467435" cy="727672"/>
        </a:xfrm>
        <a:prstGeom prst="roundRect">
          <a:avLst>
            <a:gd name="adj" fmla="val 10000"/>
          </a:avLst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A522B83-3A4D-42D7-9CD5-BC82DA4F8086}">
      <dsp:nvSpPr>
        <dsp:cNvPr id="0" name=""/>
        <dsp:cNvSpPr/>
      </dsp:nvSpPr>
      <dsp:spPr>
        <a:xfrm>
          <a:off x="220120" y="4713384"/>
          <a:ext cx="400219" cy="400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A4F4A48-226D-4C8E-A921-D7CB45C8F8D6}">
      <dsp:nvSpPr>
        <dsp:cNvPr id="0" name=""/>
        <dsp:cNvSpPr/>
      </dsp:nvSpPr>
      <dsp:spPr>
        <a:xfrm>
          <a:off x="840461" y="4549658"/>
          <a:ext cx="6626973" cy="727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12" tIns="77012" rIns="77012" bIns="77012" numCol="1" spcCol="1270" anchor="ctr" anchorCtr="0">
          <a:noAutofit/>
        </a:bodyPr>
        <a:lstStyle/>
        <a:p>
          <a:pPr marL="0" lvl="0" indent="0" algn="ct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/>
            <a:t>שילוב מידע ממספר אופנים (היסטופתולוגיה, גנומיקה, קלינית)</a:t>
          </a:r>
          <a:endParaRPr lang="en-US" sz="1800" kern="1200" dirty="0"/>
        </a:p>
      </dsp:txBody>
      <dsp:txXfrm>
        <a:off x="840461" y="4549658"/>
        <a:ext cx="6626973" cy="727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C2D7D-4EDD-45E1-871E-275A8DE021EA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3399B-685A-4ABA-9726-E647C67B27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9465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r" rtl="1">
              <a:buFontTx/>
              <a:buChar char="-"/>
            </a:pPr>
            <a:r>
              <a:rPr lang="he-IL" dirty="0"/>
              <a:t>מקור </a:t>
            </a:r>
            <a:r>
              <a:rPr lang="en-US" dirty="0"/>
              <a:t>TGCA</a:t>
            </a:r>
            <a:r>
              <a:rPr lang="he-IL" dirty="0"/>
              <a:t> </a:t>
            </a:r>
            <a:r>
              <a:rPr lang="en-US" dirty="0"/>
              <a:t> The Cancer Genome Atlas :</a:t>
            </a:r>
            <a:r>
              <a:rPr lang="he-IL" dirty="0"/>
              <a:t> מערכ נתונים ציבורי על 11 אלף מטופלים סוגי סרטן וכו 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רפואי </a:t>
            </a:r>
          </a:p>
          <a:p>
            <a:pPr marL="171450" indent="-171450" algn="r" rtl="1">
              <a:buFontTx/>
              <a:buChar char="-"/>
            </a:pPr>
            <a:r>
              <a:rPr lang="en-US" dirty="0"/>
              <a:t>WSI</a:t>
            </a:r>
            <a:endParaRPr lang="he-IL" dirty="0"/>
          </a:p>
          <a:p>
            <a:pPr marL="171450" indent="-171450" algn="r" rtl="1">
              <a:buFontTx/>
              <a:buChar char="-"/>
            </a:pPr>
            <a:r>
              <a:rPr lang="he-IL" dirty="0"/>
              <a:t>גנומי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399B-685A-4ABA-9726-E647C67B27A8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472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F125-7DF6-842C-F81A-437C55F01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48760-339A-976B-1869-31D28AC42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73214-8724-242C-9FD0-54D092ED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625F8-C33C-E51E-C71A-5EC28A77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F1A8A-FCB2-8625-3623-24AD6CD0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275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92AB-E65F-ED01-D9BF-83B59C78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67345-F771-9AE6-934A-71C92CC10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3CD69-9FCD-D2FD-848F-09968B55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90C87-20F8-CB05-0970-C1F93B0C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E3A4-FA01-61BA-8E6E-1DE006E6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061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9B51-D8F4-3035-1167-A52C6057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F7F7F-9379-828B-04CB-CC746F337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6FCA6-E83E-D52D-DD96-A5D0A09C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D045-E82B-B0B0-00DC-992D5969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D1498-4516-A5A3-C778-569E7FDA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748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6D0D-9BD7-6087-954A-E4713D50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A7CD-7787-537F-B045-2491B5ABE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72939-2FDE-C682-CED1-EE619DE22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52DBC-3289-37DE-4EB1-EFCA76BE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D5627-5E2A-5AA9-2E42-A01B89DA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80648-C9B6-F269-90E4-705953E6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240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2BDB-2D4A-F0BC-E00B-305FA9B0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BD5E8-A148-CF46-2CCA-A7F178469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47F33-3AC8-D7D9-97B1-3E7D193E6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412A1-D64F-2F00-FA88-9E94E21B5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712D9-1774-7F59-51F6-D1D85A721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8525E-0888-7D71-062A-87785FE1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331A1-E6D2-9931-349F-114DA752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F1777-2702-EEF2-0D3C-12E8A49F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813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6079-14B4-60C8-C9A6-3E465550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755826-DDC2-913A-651F-8EEA8794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BD4B1-F973-B5F7-D590-3D799F193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F22C9-C423-1EED-3A25-12AFF030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084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E9148-6141-E837-D5E3-C5954A0F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66E76-376D-48CA-B11D-351E53DA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AB111-AD71-B997-207A-B11992B2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72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EA18-C5B6-2ECD-0B1F-19FCAD00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5B1BD-7C33-F6CF-667E-13688930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6E5AB-8C84-7EAE-6783-7E124FC09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41318-AD37-F79F-D383-F651A0FF5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3AF1B-4D00-DD73-AE72-9BEE0FE0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060C0-1637-FC27-4E57-182DE19A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35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BB1F-4573-C022-0A68-CE641CC40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F8126-F2E0-70D9-0D4E-3DEE8D457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62C4-FE59-7BB2-775F-3EF5D4248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012A-3658-15BF-7681-F10B614C6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4C86C-25F1-16C7-1C06-FE73EC502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4D0EA-2C32-9311-0BBD-8D7BEB1E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07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D2F61-AEE0-BD23-210B-FF6DBCA3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E0885-AF69-F789-5977-1DD14258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863D5-B1FF-796D-DEF9-95835B80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E5185-3302-6B10-DCCC-AE2AF611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5A3DF-05D2-B3BB-8773-26FC7CC5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848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15D4E8-4811-5563-3C1E-9908FAB96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FF11C-B3E5-A551-E932-474EA8E3E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0354F-2077-F311-E5FA-671AF3FA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02A7E-50DD-C266-FEDA-5A64593C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DB503-3EAF-7111-C9E7-B30981F9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2446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6BF0-460E-0D7A-8BA2-A0A762476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65A61-2E86-D0A1-D46A-7DB5842CD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5B552-3702-2125-044E-ADA3A042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98CFB-44C2-8E1E-DB05-4A4C7908F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70B5A-DBAC-3F35-22ED-B450E61B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1338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066B-9895-F09E-C6B8-5AC40DEE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EFB2-CF1C-B980-DF83-BAFA65C4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1F6F8-AF16-6AF2-CDC6-8B9DF922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301C-6EFD-2D8E-6E9F-697FE510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A6B0B-9D88-BBB1-8009-80A1F8D6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5137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590C-42DB-9238-1998-E3855C2F1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8EA24-49A2-66CD-E4DD-E4E3FCF9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9E06E-D570-E3A2-7B49-B36D52F75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F5DE-D778-6CD2-CBED-9A467FCC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0FDFF-EB3C-43E2-1617-85E8B027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8693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9FEF-9796-DEAB-E72E-606F8C4BB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72557-D990-1A89-AE69-D53837610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E4708-062A-FA0E-90F4-6337A3D80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BCC04-E265-29D4-F6B5-F038434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A4657-2223-486D-B8D2-8DE076CC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31192-6205-65DC-FCC9-81928FCB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0726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E58E-45BA-A881-D929-04AA45FB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7D40C-1F27-4B51-F148-117751B53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D0196-9EB8-E751-03D3-F3409AB02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D259F-6323-1D7F-5879-7F1F434E8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EE891-5E0A-54A7-D8A7-4B3F8B91A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6B45E-E079-A54A-456A-C60FC096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D69E0-A493-CA5D-6D7D-24001007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70B61-C259-8B21-49A7-E6E5070D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6437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016D8-9A1C-0A27-B190-E9D846FF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5134B-2868-F8F5-FB3F-DA4A8474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40238-8141-9EAF-05FF-13E5F274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543C3-0DA2-F33A-B696-59645232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6876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4BDC1-75BB-CD3E-9A44-320DD9AA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BDCF0-F19A-B241-659B-5B92BB5B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BECB6-2463-6E5C-5225-6E9969B5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8800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31BB-2B78-8E5C-E91C-92D841BB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D84A-DB5C-31DF-E67E-2F4968E59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3128D-7BF7-8945-13C7-69D47C12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1F2E7-B313-E2D4-4301-7CCD5DEC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DE26-1349-CC3C-50A1-E6DB589E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CE1E-450D-8690-41D2-863804F3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4512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A314-A6E9-82F1-A2CA-C241716E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D7F7F-889A-FEF0-0BBC-9D2BCE157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7C086-D697-5905-D075-B5555A1FF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2CC9E-E072-5F02-8CE8-BB650E97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7ED7D-931A-56EC-AE50-C237E5D6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2C408-9FB2-07B7-E65D-0E1EC479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923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66F3-6254-C798-8030-DC43573F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D0755-6269-178E-DC17-CD7CA4A9E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98C0-89EC-74BE-B00D-3C080F86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42470-5491-3D27-C8BF-E85A7FAF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B2AFD-2377-D019-D103-DC70DFCC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5003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17E5D-63C7-D707-88C8-EBB98B8E8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E1298-E537-2E27-B0D0-7F623B514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0C9C2-C112-F522-6C61-A1BD1388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02D1D-6C71-21EB-D3BD-3E5B920C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39C5F-3B17-61D1-5F17-C3D2E1CD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1554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3089C-3C47-E8A9-A256-C11A348D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7240E-33EE-6358-E83E-0A783C2BD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77CE7-221D-A228-7C5B-A4BE34F26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8A26B-C626-4570-9E05-2184B86C3F27}" type="datetimeFigureOut">
              <a:rPr lang="en-IL" smtClean="0"/>
              <a:t>26/04/2026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644AD-89D4-F432-93FD-35DAEF06C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FCDD3-CEE8-FAF4-572D-538A0999B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108BB-F5C1-4A1B-A455-8BCB309920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828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F2BC4F-FFB6-7134-33A2-AFB4785B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93291-0436-9BAD-2413-00B20C8DA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33446-F1AC-5B04-9ECC-19768D2B3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3CC357-ECE1-4422-8243-8F17CE1B1A68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A3BD8-0ABA-218D-B8B3-6B97C971E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947FF-C11F-C1F5-CDD0-F6D705A94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09D9C-F5D2-451A-AD38-F452D7355F0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710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hyperlink" Target="http://michaelnielsen.org/" TargetMode="External"/><Relationship Id="rId5" Type="http://schemas.openxmlformats.org/officeDocument/2006/relationships/image" Target="../media/image73.jpeg"/><Relationship Id="rId10" Type="http://schemas.openxmlformats.org/officeDocument/2006/relationships/image" Target="../media/image78.png"/><Relationship Id="rId4" Type="http://schemas.microsoft.com/office/2007/relationships/hdphoto" Target="../media/hdphoto2.wdp"/><Relationship Id="rId9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7 Amazing Healthcare Technology Advances of 2017">
            <a:extLst>
              <a:ext uri="{FF2B5EF4-FFF2-40B4-BE49-F238E27FC236}">
                <a16:creationId xmlns:a16="http://schemas.microsoft.com/office/drawing/2014/main" id="{FD11D0B0-FC6C-BB5F-155F-B63510624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" r="-1" b="5877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D30420A-11E2-49DD-2916-C956790863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53241" y="919716"/>
            <a:ext cx="1008247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6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Multimodal Learning for </a:t>
            </a:r>
            <a:br>
              <a:rPr kumimoji="0" lang="en-US" altLang="en-IL" sz="6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</a:rPr>
            </a:br>
            <a:r>
              <a:rPr kumimoji="0" lang="en-IL" altLang="en-IL" sz="6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Clear Cell Renal Cell Carcinoma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54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</a14:imgLayer>
                </a14:imgProps>
              </a:ext>
            </a:extLst>
          </a:blip>
          <a:srcRect/>
          <a:stretch>
            <a:fillRect t="-3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144591-E9E9-4209-8701-3BB48A91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5DE442-BED4-1E7A-39D3-E4F9D30921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921141"/>
              </p:ext>
            </p:extLst>
          </p:nvPr>
        </p:nvGraphicFramePr>
        <p:xfrm>
          <a:off x="5139159" y="83916"/>
          <a:ext cx="6808617" cy="6690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254506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B8CD52-BB7E-4677-9389-FACE7C71D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D2B8CD52-BB7E-4677-9389-FACE7C71D0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D2B8CD52-BB7E-4677-9389-FACE7C71D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D2B8CD52-BB7E-4677-9389-FACE7C71D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25B4A1-3405-4948-B682-A5CB1E992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6625B4A1-3405-4948-B682-A5CB1E9920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6625B4A1-3405-4948-B682-A5CB1E992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6625B4A1-3405-4948-B682-A5CB1E992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D2A21C-3481-4289-A3E0-A55754A9A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21D2A21C-3481-4289-A3E0-A55754A9A4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21D2A21C-3481-4289-A3E0-A55754A9A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21D2A21C-3481-4289-A3E0-A55754A9A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3F4529-A4CD-4545-A4FE-834E65F75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603F4529-A4CD-4545-A4FE-834E65F755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603F4529-A4CD-4545-A4FE-834E65F75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603F4529-A4CD-4545-A4FE-834E65F75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0EB7E-9C10-4B50-9B2F-A3D63EB2DD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5950EB7E-9C10-4B50-9B2F-A3D63EB2DD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5950EB7E-9C10-4B50-9B2F-A3D63EB2DD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5950EB7E-9C10-4B50-9B2F-A3D63EB2DD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E3160F-2295-449A-8B0D-D1A9A79CDC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83E3160F-2295-449A-8B0D-D1A9A79CDC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83E3160F-2295-449A-8B0D-D1A9A79CDC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83E3160F-2295-449A-8B0D-D1A9A79CDC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84661C-DD9B-4332-BDA6-CDA56B839E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1B84661C-DD9B-4332-BDA6-CDA56B839E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1B84661C-DD9B-4332-BDA6-CDA56B839E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1B84661C-DD9B-4332-BDA6-CDA56B839E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7A8FE1-F54F-4FD0-9AEF-D331D81B14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FE7A8FE1-F54F-4FD0-9AEF-D331D81B14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FE7A8FE1-F54F-4FD0-9AEF-D331D81B14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FE7A8FE1-F54F-4FD0-9AEF-D331D81B14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F22F1E-7A14-44B9-B8C8-954B008BAC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95F22F1E-7A14-44B9-B8C8-954B008BAC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95F22F1E-7A14-44B9-B8C8-954B008BAC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95F22F1E-7A14-44B9-B8C8-954B008BAC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4DB697-19AE-444D-AFE2-0AE9BC29FF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8C4DB697-19AE-444D-AFE2-0AE9BC29FF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8C4DB697-19AE-444D-AFE2-0AE9BC29FF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8C4DB697-19AE-444D-AFE2-0AE9BC29FF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C3330B-97A8-44C7-B702-CA613CA49B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graphicEl>
                                              <a:dgm id="{E2C3330B-97A8-44C7-B702-CA613CA49B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E2C3330B-97A8-44C7-B702-CA613CA49B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graphicEl>
                                              <a:dgm id="{E2C3330B-97A8-44C7-B702-CA613CA49B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A5E143-A93F-4C09-AF03-4B661EEB3A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graphicEl>
                                              <a:dgm id="{6EA5E143-A93F-4C09-AF03-4B661EEB3A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6EA5E143-A93F-4C09-AF03-4B661EEB3A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graphicEl>
                                              <a:dgm id="{6EA5E143-A93F-4C09-AF03-4B661EEB3A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1D750B-4FEA-49AF-92E1-2A81FA684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">
                                            <p:graphicEl>
                                              <a:dgm id="{5A1D750B-4FEA-49AF-92E1-2A81FA6847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graphicEl>
                                              <a:dgm id="{5A1D750B-4FEA-49AF-92E1-2A81FA684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">
                                            <p:graphicEl>
                                              <a:dgm id="{5A1D750B-4FEA-49AF-92E1-2A81FA684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F5AEF3-C53D-46B2-B306-BEDCA053A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">
                                            <p:graphicEl>
                                              <a:dgm id="{C4F5AEF3-C53D-46B2-B306-BEDCA053A3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>
                                            <p:graphicEl>
                                              <a:dgm id="{C4F5AEF3-C53D-46B2-B306-BEDCA053A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>
                                            <p:graphicEl>
                                              <a:dgm id="{C4F5AEF3-C53D-46B2-B306-BEDCA053A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AD7FEB-4A78-4048-AC13-BBB66BD7C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">
                                            <p:graphicEl>
                                              <a:dgm id="{10AD7FEB-4A78-4048-AC13-BBB66BD7C6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graphicEl>
                                              <a:dgm id="{10AD7FEB-4A78-4048-AC13-BBB66BD7C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">
                                            <p:graphicEl>
                                              <a:dgm id="{10AD7FEB-4A78-4048-AC13-BBB66BD7C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1949A1-7A59-4E20-A31C-A5B433C70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graphicEl>
                                              <a:dgm id="{641949A1-7A59-4E20-A31C-A5B433C70A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graphicEl>
                                              <a:dgm id="{641949A1-7A59-4E20-A31C-A5B433C70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graphicEl>
                                              <a:dgm id="{641949A1-7A59-4E20-A31C-A5B433C70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32BFF0-B777-452D-9C67-2D45E4C29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">
                                            <p:graphicEl>
                                              <a:dgm id="{3132BFF0-B777-452D-9C67-2D45E4C292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">
                                            <p:graphicEl>
                                              <a:dgm id="{3132BFF0-B777-452D-9C67-2D45E4C29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">
                                            <p:graphicEl>
                                              <a:dgm id="{3132BFF0-B777-452D-9C67-2D45E4C29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844DC32-97A4-4841-BA96-0665396E9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">
                                            <p:graphicEl>
                                              <a:dgm id="{0844DC32-97A4-4841-BA96-0665396E97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">
                                            <p:graphicEl>
                                              <a:dgm id="{0844DC32-97A4-4841-BA96-0665396E9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">
                                            <p:graphicEl>
                                              <a:dgm id="{0844DC32-97A4-4841-BA96-0665396E9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3E46F22-D6CC-4764-933B-DA50605EA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">
                                            <p:graphicEl>
                                              <a:dgm id="{03E46F22-D6CC-4764-933B-DA50605EA8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">
                                            <p:graphicEl>
                                              <a:dgm id="{03E46F22-D6CC-4764-933B-DA50605EA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">
                                            <p:graphicEl>
                                              <a:dgm id="{03E46F22-D6CC-4764-933B-DA50605EA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B329C5-A83B-4F43-B98F-A0B6C8EE8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">
                                            <p:graphicEl>
                                              <a:dgm id="{00B329C5-A83B-4F43-B98F-A0B6C8EE8A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">
                                            <p:graphicEl>
                                              <a:dgm id="{00B329C5-A83B-4F43-B98F-A0B6C8EE8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">
                                            <p:graphicEl>
                                              <a:dgm id="{00B329C5-A83B-4F43-B98F-A0B6C8EE8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598AD3-DD68-42D6-A9E4-97A9A9C22D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graphicEl>
                                              <a:dgm id="{13598AD3-DD68-42D6-A9E4-97A9A9C22D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graphicEl>
                                              <a:dgm id="{13598AD3-DD68-42D6-A9E4-97A9A9C22D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graphicEl>
                                              <a:dgm id="{13598AD3-DD68-42D6-A9E4-97A9A9C22D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3A46533-73F6-4CF9-8565-DB1C64CC6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graphicEl>
                                              <a:dgm id="{53A46533-73F6-4CF9-8565-DB1C64CC6C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graphicEl>
                                              <a:dgm id="{53A46533-73F6-4CF9-8565-DB1C64CC6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graphicEl>
                                              <a:dgm id="{53A46533-73F6-4CF9-8565-DB1C64CC6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FF3028F-8981-4864-B4DC-F1E2884F52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">
                                            <p:graphicEl>
                                              <a:dgm id="{FFF3028F-8981-4864-B4DC-F1E2884F52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">
                                            <p:graphicEl>
                                              <a:dgm id="{FFF3028F-8981-4864-B4DC-F1E2884F52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">
                                            <p:graphicEl>
                                              <a:dgm id="{FFF3028F-8981-4864-B4DC-F1E2884F52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193D85-25A3-4A62-8566-034A32A40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">
                                            <p:graphicEl>
                                              <a:dgm id="{4C193D85-25A3-4A62-8566-034A32A405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">
                                            <p:graphicEl>
                                              <a:dgm id="{4C193D85-25A3-4A62-8566-034A32A40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">
                                            <p:graphicEl>
                                              <a:dgm id="{4C193D85-25A3-4A62-8566-034A32A40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5CA2CC07-F82E-F13F-BD5B-EDB3006DD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233" y="1830216"/>
            <a:ext cx="3859106" cy="319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0C6D51EF-0BC1-0B7F-A299-F0688310F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6896044"/>
              </p:ext>
            </p:extLst>
          </p:nvPr>
        </p:nvGraphicFramePr>
        <p:xfrm>
          <a:off x="268389" y="1033272"/>
          <a:ext cx="7467435" cy="5279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91FE72-7F2F-F3FC-6907-399F79F52522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4400" dirty="0">
                <a:latin typeface="+mj-lt"/>
              </a:rPr>
              <a:t>Research background</a:t>
            </a:r>
            <a:r>
              <a:rPr lang="en-US" sz="4400" dirty="0">
                <a:latin typeface="+mj-lt"/>
              </a:rPr>
              <a:t>: Clear renal Cell Carcinoma</a:t>
            </a:r>
            <a:endParaRPr lang="en-IL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20209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DF1B09C-7C6A-42F1-97D2-7517F23D39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graphicEl>
                                              <a:dgm id="{6DF1B09C-7C6A-42F1-97D2-7517F23D39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graphicEl>
                                              <a:dgm id="{6DF1B09C-7C6A-42F1-97D2-7517F23D39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graphicEl>
                                              <a:dgm id="{6DF1B09C-7C6A-42F1-97D2-7517F23D39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BCE11ED-F308-4405-AEC7-7096514F1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graphicEl>
                                              <a:dgm id="{BBCE11ED-F308-4405-AEC7-7096514F11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graphicEl>
                                              <a:dgm id="{BBCE11ED-F308-4405-AEC7-7096514F1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graphicEl>
                                              <a:dgm id="{BBCE11ED-F308-4405-AEC7-7096514F1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3D90A7E-4637-4BB7-9AAD-5D8E46E2D6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graphicEl>
                                              <a:dgm id="{43D90A7E-4637-4BB7-9AAD-5D8E46E2D6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graphicEl>
                                              <a:dgm id="{43D90A7E-4637-4BB7-9AAD-5D8E46E2D6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graphicEl>
                                              <a:dgm id="{43D90A7E-4637-4BB7-9AAD-5D8E46E2D6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9878E2A-8E79-49D5-9399-66A6246A4C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graphicEl>
                                              <a:dgm id="{39878E2A-8E79-49D5-9399-66A6246A4C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graphicEl>
                                              <a:dgm id="{39878E2A-8E79-49D5-9399-66A6246A4C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graphicEl>
                                              <a:dgm id="{39878E2A-8E79-49D5-9399-66A6246A4C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0FDB5CC-2D52-4C20-967D-2D9FDB7C0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graphicEl>
                                              <a:dgm id="{10FDB5CC-2D52-4C20-967D-2D9FDB7C0B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graphicEl>
                                              <a:dgm id="{10FDB5CC-2D52-4C20-967D-2D9FDB7C0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graphicEl>
                                              <a:dgm id="{10FDB5CC-2D52-4C20-967D-2D9FDB7C0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92CA5DF-E522-4A4D-8BE8-DE86EFD917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>
                                            <p:graphicEl>
                                              <a:dgm id="{692CA5DF-E522-4A4D-8BE8-DE86EFD917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>
                                            <p:graphicEl>
                                              <a:dgm id="{692CA5DF-E522-4A4D-8BE8-DE86EFD917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graphicEl>
                                              <a:dgm id="{692CA5DF-E522-4A4D-8BE8-DE86EFD917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AC8E999-3B16-4054-ACD8-7431C4EA9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graphicEl>
                                              <a:dgm id="{CAC8E999-3B16-4054-ACD8-7431C4EA9F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graphicEl>
                                              <a:dgm id="{CAC8E999-3B16-4054-ACD8-7431C4EA9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graphicEl>
                                              <a:dgm id="{CAC8E999-3B16-4054-ACD8-7431C4EA9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4AC0E1E-D205-457F-8EA5-651B5A1195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>
                                            <p:graphicEl>
                                              <a:dgm id="{B4AC0E1E-D205-457F-8EA5-651B5A1195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graphicEl>
                                              <a:dgm id="{B4AC0E1E-D205-457F-8EA5-651B5A1195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graphicEl>
                                              <a:dgm id="{B4AC0E1E-D205-457F-8EA5-651B5A1195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EDA7C11-DE34-4E01-A457-88AEA84A9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>
                                            <p:graphicEl>
                                              <a:dgm id="{9EDA7C11-DE34-4E01-A457-88AEA84A99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graphicEl>
                                              <a:dgm id="{9EDA7C11-DE34-4E01-A457-88AEA84A9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graphicEl>
                                              <a:dgm id="{9EDA7C11-DE34-4E01-A457-88AEA84A9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1F6D33B-EE74-458D-ABE4-A4B337B7F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>
                                            <p:graphicEl>
                                              <a:dgm id="{01F6D33B-EE74-458D-ABE4-A4B337B7FD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>
                                            <p:graphicEl>
                                              <a:dgm id="{01F6D33B-EE74-458D-ABE4-A4B337B7F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graphicEl>
                                              <a:dgm id="{01F6D33B-EE74-458D-ABE4-A4B337B7F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CFE93BD-5855-42CF-B029-AE9AEAA14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graphicEl>
                                              <a:dgm id="{0CFE93BD-5855-42CF-B029-AE9AEAA14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graphicEl>
                                              <a:dgm id="{0CFE93BD-5855-42CF-B029-AE9AEAA14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graphicEl>
                                              <a:dgm id="{0CFE93BD-5855-42CF-B029-AE9AEAA14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9BD9474-3174-4991-83EB-1DFC826141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">
                                            <p:graphicEl>
                                              <a:dgm id="{19BD9474-3174-4991-83EB-1DFC826141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>
                                            <p:graphicEl>
                                              <a:dgm id="{19BD9474-3174-4991-83EB-1DFC826141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>
                                            <p:graphicEl>
                                              <a:dgm id="{19BD9474-3174-4991-83EB-1DFC826141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B909642-FD15-436C-A2DF-70CCADB2D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>
                                            <p:graphicEl>
                                              <a:dgm id="{CB909642-FD15-436C-A2DF-70CCADB2D8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>
                                            <p:graphicEl>
                                              <a:dgm id="{CB909642-FD15-436C-A2DF-70CCADB2D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>
                                            <p:graphicEl>
                                              <a:dgm id="{CB909642-FD15-436C-A2DF-70CCADB2D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1B2C7E0-D1AF-4B16-A168-BE2B2F2699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">
                                            <p:graphicEl>
                                              <a:dgm id="{F1B2C7E0-D1AF-4B16-A168-BE2B2F2699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>
                                            <p:graphicEl>
                                              <a:dgm id="{F1B2C7E0-D1AF-4B16-A168-BE2B2F2699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>
                                            <p:graphicEl>
                                              <a:dgm id="{F1B2C7E0-D1AF-4B16-A168-BE2B2F2699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EAC8F20-D0A3-49C2-BAF9-A965BAC12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0">
                                            <p:graphicEl>
                                              <a:dgm id="{CEAC8F20-D0A3-49C2-BAF9-A965BAC124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">
                                            <p:graphicEl>
                                              <a:dgm id="{CEAC8F20-D0A3-49C2-BAF9-A965BAC12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">
                                            <p:graphicEl>
                                              <a:dgm id="{CEAC8F20-D0A3-49C2-BAF9-A965BAC12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D526DE6-C9C8-4581-A3B1-DF58908DD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0">
                                            <p:graphicEl>
                                              <a:dgm id="{2D526DE6-C9C8-4581-A3B1-DF58908DD9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">
                                            <p:graphicEl>
                                              <a:dgm id="{2D526DE6-C9C8-4581-A3B1-DF58908DD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">
                                            <p:graphicEl>
                                              <a:dgm id="{2D526DE6-C9C8-4581-A3B1-DF58908DD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A522B83-3A4D-42D7-9CD5-BC82DA4F80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">
                                            <p:graphicEl>
                                              <a:dgm id="{FA522B83-3A4D-42D7-9CD5-BC82DA4F80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">
                                            <p:graphicEl>
                                              <a:dgm id="{FA522B83-3A4D-42D7-9CD5-BC82DA4F80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">
                                            <p:graphicEl>
                                              <a:dgm id="{FA522B83-3A4D-42D7-9CD5-BC82DA4F80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A4F4A48-226D-4C8E-A921-D7CB45C8F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">
                                            <p:graphicEl>
                                              <a:dgm id="{DA4F4A48-226D-4C8E-A921-D7CB45C8F8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">
                                            <p:graphicEl>
                                              <a:dgm id="{DA4F4A48-226D-4C8E-A921-D7CB45C8F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">
                                            <p:graphicEl>
                                              <a:dgm id="{DA4F4A48-226D-4C8E-A921-D7CB45C8F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0D9B8A-8CCD-886B-8969-CA0E849A1C4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en-US" dirty="0"/>
              <a:t>Multimodal Dataset Overview : TGCA</a:t>
            </a:r>
          </a:p>
        </p:txBody>
      </p:sp>
      <p:pic>
        <p:nvPicPr>
          <p:cNvPr id="2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CB91E508-7AC7-6D51-BE89-F66061956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291" y="1168575"/>
            <a:ext cx="2925416" cy="20268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>
              <a:schemeClr val="accent1">
                <a:alpha val="46000"/>
              </a:schemeClr>
            </a:glow>
            <a:outerShdw blurRad="50800" dist="38100" dir="2700000" algn="tl" rotWithShape="0">
              <a:srgbClr val="000000">
                <a:alpha val="52000"/>
              </a:srgbClr>
            </a:outerShdw>
            <a:reflection stA="0" dist="1143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ree Medical Icon Set Vector 109622 Vector Art at Vecteezy">
            <a:extLst>
              <a:ext uri="{FF2B5EF4-FFF2-40B4-BE49-F238E27FC236}">
                <a16:creationId xmlns:a16="http://schemas.microsoft.com/office/drawing/2014/main" id="{F0AE1C42-4A19-1E6E-054A-439E82817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85" y="1207043"/>
            <a:ext cx="2925414" cy="20268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724BD2-9933-59CE-4E23-2226927AE255}"/>
              </a:ext>
            </a:extLst>
          </p:cNvPr>
          <p:cNvSpPr txBox="1"/>
          <p:nvPr/>
        </p:nvSpPr>
        <p:spPr>
          <a:xfrm>
            <a:off x="4598450" y="740713"/>
            <a:ext cx="299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WSI</a:t>
            </a:r>
            <a:r>
              <a:rPr lang="en-US" dirty="0"/>
              <a:t> 2D – 100%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B76069-CEB0-6F09-275F-D70EB44A3707}"/>
              </a:ext>
            </a:extLst>
          </p:cNvPr>
          <p:cNvSpPr txBox="1"/>
          <p:nvPr/>
        </p:nvSpPr>
        <p:spPr>
          <a:xfrm>
            <a:off x="8910313" y="771932"/>
            <a:ext cx="275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GENOMICS</a:t>
            </a:r>
            <a:r>
              <a:rPr lang="en-US" dirty="0"/>
              <a:t> 462x3 – 75%</a:t>
            </a:r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A0B324-EE7D-56C5-6ACD-E0105F052583}"/>
              </a:ext>
            </a:extLst>
          </p:cNvPr>
          <p:cNvSpPr txBox="1"/>
          <p:nvPr/>
        </p:nvSpPr>
        <p:spPr>
          <a:xfrm>
            <a:off x="311085" y="771932"/>
            <a:ext cx="293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MEDICAL </a:t>
            </a:r>
            <a:r>
              <a:rPr lang="en-US" dirty="0"/>
              <a:t>618x20 – 100%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BC40A5-FF0B-3CFF-3096-25D19699C32D}"/>
              </a:ext>
            </a:extLst>
          </p:cNvPr>
          <p:cNvSpPr txBox="1"/>
          <p:nvPr/>
        </p:nvSpPr>
        <p:spPr>
          <a:xfrm>
            <a:off x="4189937" y="3429000"/>
            <a:ext cx="3591612" cy="189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dirty="0"/>
              <a:t>תמונות ברזולוציה גבוהה מאוד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dirty="0"/>
              <a:t>לכל מטופל יש ≥ 2 תמונות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dirty="0"/>
              <a:t>סה"כ: 2,573 תמונות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dirty="0"/>
              <a:t>מייצג את רקמת הגידול</a:t>
            </a:r>
            <a:endParaRPr lang="en-IL" sz="2000" dirty="0"/>
          </a:p>
        </p:txBody>
      </p:sp>
      <p:pic>
        <p:nvPicPr>
          <p:cNvPr id="2050" name="Picture 2" descr="Chemical dna icon. science technology. symbol medicine. vector ...">
            <a:extLst>
              <a:ext uri="{FF2B5EF4-FFF2-40B4-BE49-F238E27FC236}">
                <a16:creationId xmlns:a16="http://schemas.microsoft.com/office/drawing/2014/main" id="{85403C22-33C1-CDC8-F665-3ECD17A95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988" y="1207043"/>
            <a:ext cx="2925414" cy="20268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502441-A716-F562-123D-21BA5C08CE61}"/>
              </a:ext>
            </a:extLst>
          </p:cNvPr>
          <p:cNvSpPr txBox="1"/>
          <p:nvPr/>
        </p:nvSpPr>
        <p:spPr>
          <a:xfrm>
            <a:off x="-1" y="3428999"/>
            <a:ext cx="4260915" cy="3276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b="1" dirty="0"/>
              <a:t>נתוני מטופל: </a:t>
            </a:r>
            <a:r>
              <a:rPr lang="he-IL" sz="2000" dirty="0"/>
              <a:t>גיל, מין, גזע, היסטוריה רפואית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b="1" dirty="0"/>
              <a:t>מאפייני גידול: </a:t>
            </a:r>
            <a:r>
              <a:rPr lang="he-IL" sz="2000" dirty="0"/>
              <a:t>דרגה, שלב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e-IL" sz="2000" b="1" dirty="0"/>
              <a:t>מערכת </a:t>
            </a:r>
            <a:r>
              <a:rPr lang="en-US" sz="2000" b="1" dirty="0"/>
              <a:t>AJCC</a:t>
            </a:r>
            <a:r>
              <a:rPr lang="he-IL" sz="2000" b="1" dirty="0"/>
              <a:t> :</a:t>
            </a:r>
            <a:r>
              <a:rPr lang="en-US" sz="2000" dirty="0"/>
              <a:t> </a:t>
            </a:r>
            <a:endParaRPr lang="he-IL" sz="2000" dirty="0"/>
          </a:p>
          <a:p>
            <a:pPr algn="r" rtl="1">
              <a:lnSpc>
                <a:spcPct val="150000"/>
              </a:lnSpc>
            </a:pPr>
            <a:r>
              <a:rPr lang="he-IL" sz="2000" dirty="0"/>
              <a:t>	</a:t>
            </a:r>
            <a:r>
              <a:rPr lang="en-US" sz="2000" dirty="0"/>
              <a:t>T</a:t>
            </a:r>
            <a:r>
              <a:rPr lang="he-IL" sz="2000" dirty="0"/>
              <a:t>: גודל/היקף הגידול</a:t>
            </a:r>
            <a:r>
              <a:rPr lang="en-US" sz="2000" dirty="0"/>
              <a:t> </a:t>
            </a:r>
            <a:endParaRPr lang="he-IL" sz="2000" dirty="0"/>
          </a:p>
          <a:p>
            <a:pPr algn="r" rtl="1">
              <a:lnSpc>
                <a:spcPct val="150000"/>
              </a:lnSpc>
            </a:pPr>
            <a:r>
              <a:rPr lang="he-IL" sz="2000" dirty="0"/>
              <a:t>	</a:t>
            </a:r>
            <a:r>
              <a:rPr lang="en-US" sz="2000" dirty="0"/>
              <a:t>N</a:t>
            </a:r>
            <a:r>
              <a:rPr lang="he-IL" sz="2000" dirty="0"/>
              <a:t>: מעורבות בלוטות הלימפה</a:t>
            </a:r>
          </a:p>
          <a:p>
            <a:pPr algn="r" rtl="1">
              <a:lnSpc>
                <a:spcPct val="150000"/>
              </a:lnSpc>
            </a:pPr>
            <a:r>
              <a:rPr lang="he-IL" sz="2000" dirty="0"/>
              <a:t>	</a:t>
            </a:r>
            <a:r>
              <a:rPr lang="en-US" sz="2000" dirty="0"/>
              <a:t>M</a:t>
            </a:r>
            <a:r>
              <a:rPr lang="he-IL" sz="2000" dirty="0"/>
              <a:t>: גרורות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52AA2-65DC-C77D-F61C-C9021A6B3799}"/>
              </a:ext>
            </a:extLst>
          </p:cNvPr>
          <p:cNvSpPr txBox="1"/>
          <p:nvPr/>
        </p:nvSpPr>
        <p:spPr>
          <a:xfrm>
            <a:off x="7931088" y="3428999"/>
            <a:ext cx="4188362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VHL</a:t>
            </a:r>
            <a:r>
              <a:rPr lang="he-IL" sz="2000" b="1" dirty="0"/>
              <a:t> : </a:t>
            </a:r>
            <a:r>
              <a:rPr lang="he-IL" sz="2000" dirty="0"/>
              <a:t>מוטציה מקדמת צמיחת גידול, מאפיין עיקרי של </a:t>
            </a:r>
            <a:r>
              <a:rPr lang="en-US" sz="2000" dirty="0"/>
              <a:t>ccRCC </a:t>
            </a:r>
            <a:r>
              <a:rPr lang="he-IL" sz="2000" dirty="0"/>
              <a:t> </a:t>
            </a:r>
            <a:r>
              <a:rPr lang="en-US" sz="2000" dirty="0"/>
              <a:t>(90%)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PBRM1</a:t>
            </a:r>
            <a:r>
              <a:rPr lang="he-IL" sz="2000" b="1" dirty="0"/>
              <a:t> : </a:t>
            </a:r>
            <a:r>
              <a:rPr lang="he-IL" sz="2000" dirty="0"/>
              <a:t>אחראי על אגרסיביות הגידול (50%)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TTN</a:t>
            </a:r>
            <a:r>
              <a:rPr lang="he-IL" sz="2000" b="1" dirty="0"/>
              <a:t> : </a:t>
            </a:r>
            <a:r>
              <a:rPr lang="he-IL" sz="2000" dirty="0"/>
              <a:t>הגן הגדול ביותר אצל בני אדם , מצביע על מוטציות רבות בגנים</a:t>
            </a:r>
          </a:p>
        </p:txBody>
      </p:sp>
    </p:spTree>
    <p:extLst>
      <p:ext uri="{BB962C8B-B14F-4D97-AF65-F5344CB8AC3E}">
        <p14:creationId xmlns:p14="http://schemas.microsoft.com/office/powerpoint/2010/main" val="3435423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0D9B8A-8CCD-886B-8969-CA0E849A1C4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en-US" dirty="0"/>
              <a:t>Clinical Data and Genomics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36511-96D6-1FBB-BD03-A4F0047044C8}"/>
              </a:ext>
            </a:extLst>
          </p:cNvPr>
          <p:cNvSpPr txBox="1"/>
          <p:nvPr/>
        </p:nvSpPr>
        <p:spPr>
          <a:xfrm>
            <a:off x="124188" y="3020082"/>
            <a:ext cx="71438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Case_id</a:t>
            </a:r>
          </a:p>
          <a:p>
            <a:r>
              <a:rPr lang="en-US" b="1" dirty="0"/>
              <a:t>Gender</a:t>
            </a:r>
          </a:p>
          <a:p>
            <a:r>
              <a:rPr lang="en-US" b="1" dirty="0"/>
              <a:t>Age :</a:t>
            </a:r>
            <a:r>
              <a:rPr lang="en-US" dirty="0"/>
              <a:t> (*10)</a:t>
            </a:r>
          </a:p>
          <a:p>
            <a:r>
              <a:rPr lang="en-US" b="1" dirty="0"/>
              <a:t>Grade</a:t>
            </a:r>
            <a:r>
              <a:rPr lang="en-US" dirty="0"/>
              <a:t> : </a:t>
            </a:r>
            <a:r>
              <a:rPr lang="he-IL" dirty="0"/>
              <a:t>מ1 עד 4 כמה הגידול אגרסיבי</a:t>
            </a:r>
          </a:p>
          <a:p>
            <a:r>
              <a:rPr lang="en-US" b="1" dirty="0"/>
              <a:t>Cancer_history</a:t>
            </a:r>
            <a:r>
              <a:rPr lang="he-IL" b="1" dirty="0"/>
              <a:t> </a:t>
            </a:r>
            <a:r>
              <a:rPr lang="he-IL" dirty="0"/>
              <a:t>: </a:t>
            </a:r>
            <a:r>
              <a:rPr lang="en-US" dirty="0"/>
              <a:t>0/1 </a:t>
            </a:r>
          </a:p>
          <a:p>
            <a:r>
              <a:rPr lang="en-US" b="1" dirty="0"/>
              <a:t>ajcc_path_tumor_pt </a:t>
            </a:r>
            <a:r>
              <a:rPr lang="en-US" dirty="0"/>
              <a:t>: </a:t>
            </a:r>
            <a:r>
              <a:rPr lang="he-IL" dirty="0"/>
              <a:t>גודל הגידול מ -1 עד 11</a:t>
            </a:r>
          </a:p>
          <a:p>
            <a:r>
              <a:rPr lang="en-US" b="1" dirty="0"/>
              <a:t>ajcc_path_nodes_pn </a:t>
            </a:r>
            <a:r>
              <a:rPr lang="en-US" dirty="0"/>
              <a:t>: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התפשטות לבלוטות הלימפה מ 0 עד 2</a:t>
            </a:r>
          </a:p>
          <a:p>
            <a:r>
              <a:rPr lang="en-US" b="1" dirty="0"/>
              <a:t>ajcc_clin_metastasis_cm </a:t>
            </a:r>
            <a:r>
              <a:rPr lang="en-US" dirty="0"/>
              <a:t>: </a:t>
            </a:r>
            <a:r>
              <a:rPr lang="he-IL" dirty="0"/>
              <a:t>התפשטות לחלקים אחרים בגוף מ 0 עד 2</a:t>
            </a:r>
          </a:p>
          <a:p>
            <a:r>
              <a:rPr lang="en-US" b="1" dirty="0"/>
              <a:t>ajcc_path_metastasis_pm </a:t>
            </a:r>
            <a:r>
              <a:rPr lang="en-US" dirty="0"/>
              <a:t>: </a:t>
            </a:r>
            <a:r>
              <a:rPr lang="he-IL" dirty="0"/>
              <a:t>ההתפשטות בפועל לאחר הניתוח מ-0 ל-2</a:t>
            </a:r>
          </a:p>
          <a:p>
            <a:r>
              <a:rPr lang="en-US" b="1" dirty="0"/>
              <a:t>ajcc_path_tumor_stage </a:t>
            </a:r>
            <a:r>
              <a:rPr lang="en-US" dirty="0"/>
              <a:t>: </a:t>
            </a:r>
            <a:r>
              <a:rPr lang="he-IL" dirty="0"/>
              <a:t>שלב הסרטן כללי מ-1 עד 5</a:t>
            </a:r>
          </a:p>
          <a:p>
            <a:r>
              <a:rPr lang="en-US" b="1" dirty="0"/>
              <a:t>vital_status_12 </a:t>
            </a:r>
            <a:r>
              <a:rPr lang="en-US" dirty="0"/>
              <a:t>: </a:t>
            </a:r>
            <a:r>
              <a:rPr lang="he-IL" dirty="0"/>
              <a:t>מצב המטופל לאחר 12 חודשים</a:t>
            </a:r>
          </a:p>
          <a:p>
            <a:r>
              <a:rPr lang="en-US" b="1" dirty="0"/>
              <a:t>race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544E6-795E-4160-15A5-1F19CB2C2999}"/>
              </a:ext>
            </a:extLst>
          </p:cNvPr>
          <p:cNvSpPr txBox="1"/>
          <p:nvPr/>
        </p:nvSpPr>
        <p:spPr>
          <a:xfrm>
            <a:off x="8777736" y="5264376"/>
            <a:ext cx="2557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VHL_mutation</a:t>
            </a:r>
            <a:r>
              <a:rPr lang="en-US" dirty="0"/>
              <a:t> : 0/1</a:t>
            </a:r>
          </a:p>
          <a:p>
            <a:r>
              <a:rPr lang="en-US" b="1" dirty="0"/>
              <a:t>PBMR1_mutation</a:t>
            </a:r>
            <a:r>
              <a:rPr lang="en-US" dirty="0"/>
              <a:t> : 0/1</a:t>
            </a:r>
          </a:p>
          <a:p>
            <a:r>
              <a:rPr lang="en-US" b="1" dirty="0" err="1"/>
              <a:t>TTN_mutation</a:t>
            </a:r>
            <a:r>
              <a:rPr lang="en-US" dirty="0"/>
              <a:t> : 0/1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23483E-BA79-F492-14A4-5D6AE661F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74"/>
          <a:stretch>
            <a:fillRect/>
          </a:stretch>
        </p:blipFill>
        <p:spPr>
          <a:xfrm>
            <a:off x="8646749" y="3062768"/>
            <a:ext cx="2819644" cy="1888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EF6236-BDFF-D5AD-BA54-FA54D6BC0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8" y="897463"/>
            <a:ext cx="9471757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0819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651AE-49C3-FE49-0DD0-C0233F2D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8A9B16-FBF3-715B-BFEA-10D6796B1CFE}"/>
              </a:ext>
            </a:extLst>
          </p:cNvPr>
          <p:cNvSpPr/>
          <p:nvPr/>
        </p:nvSpPr>
        <p:spPr>
          <a:xfrm>
            <a:off x="2035767" y="3215814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76EA94AF-9E70-E6D6-4011-DCAA13F90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1236513"/>
            <a:ext cx="1657930" cy="1130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>
              <a:schemeClr val="accent1">
                <a:alpha val="46000"/>
              </a:schemeClr>
            </a:glow>
            <a:outerShdw blurRad="50800" dist="38100" dir="2700000" algn="tl" rotWithShape="0">
              <a:srgbClr val="000000">
                <a:alpha val="52000"/>
              </a:srgbClr>
            </a:outerShdw>
            <a:reflection stA="0" dist="1143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dna strand on a white background&#10;&#10;Description automatically generated">
            <a:extLst>
              <a:ext uri="{FF2B5EF4-FFF2-40B4-BE49-F238E27FC236}">
                <a16:creationId xmlns:a16="http://schemas.microsoft.com/office/drawing/2014/main" id="{58A8587A-468C-4A01-DB28-971384725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637" y="4643442"/>
            <a:ext cx="1675239" cy="1162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8" descr="Free Medical Icon Set Vector 109622 Vector Art at Vecteezy">
            <a:extLst>
              <a:ext uri="{FF2B5EF4-FFF2-40B4-BE49-F238E27FC236}">
                <a16:creationId xmlns:a16="http://schemas.microsoft.com/office/drawing/2014/main" id="{30BB77BA-F3A9-C0BE-F36C-915B945E9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2924664"/>
            <a:ext cx="1675239" cy="1160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018C30A-991C-DEB2-715C-D1DF905D22B5}"/>
              </a:ext>
            </a:extLst>
          </p:cNvPr>
          <p:cNvSpPr/>
          <p:nvPr/>
        </p:nvSpPr>
        <p:spPr>
          <a:xfrm>
            <a:off x="2755797" y="2977246"/>
            <a:ext cx="1793424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exploration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9082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6B96D-0194-05B0-B7AF-61532D93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8F6AE4-B26E-6968-8B20-D9423B3465B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dirty="0"/>
              <a:t>Data exploration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9B8C5-43E4-FA4E-0742-32656916A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069" b="84896"/>
          <a:stretch>
            <a:fillRect/>
          </a:stretch>
        </p:blipFill>
        <p:spPr>
          <a:xfrm>
            <a:off x="271870" y="909583"/>
            <a:ext cx="3682066" cy="2519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4F5AF4-3EA9-5876-B4F7-5559DE344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11" r="36558" b="84896"/>
          <a:stretch>
            <a:fillRect/>
          </a:stretch>
        </p:blipFill>
        <p:spPr>
          <a:xfrm>
            <a:off x="4233631" y="909583"/>
            <a:ext cx="3682066" cy="2519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8328B-636B-5243-4502-E76EEB71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021" r="2945" b="86742"/>
          <a:stretch>
            <a:fillRect/>
          </a:stretch>
        </p:blipFill>
        <p:spPr>
          <a:xfrm>
            <a:off x="293206" y="4108803"/>
            <a:ext cx="3682066" cy="2519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7774FD-B2BF-B273-EBDC-CAA251196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87" t="17181" r="36981" b="67715"/>
          <a:stretch>
            <a:fillRect/>
          </a:stretch>
        </p:blipFill>
        <p:spPr>
          <a:xfrm>
            <a:off x="4254967" y="4117947"/>
            <a:ext cx="3682066" cy="2519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539C27-F113-7A06-12DC-9A6021F2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84" t="33774" r="36484" b="51122"/>
          <a:stretch>
            <a:fillRect/>
          </a:stretch>
        </p:blipFill>
        <p:spPr>
          <a:xfrm>
            <a:off x="8216728" y="909583"/>
            <a:ext cx="3682066" cy="2519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AFF531-5A07-7F33-36F4-D61FBF65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8" t="16955" r="71236" b="67941"/>
          <a:stretch>
            <a:fillRect/>
          </a:stretch>
        </p:blipFill>
        <p:spPr>
          <a:xfrm>
            <a:off x="8216728" y="4117947"/>
            <a:ext cx="3682066" cy="2519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917910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0D1EF-D7D4-89A1-BE56-EE1F20FE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06857D2F-1EF5-A360-8C65-8D3BF0FAB3D7}"/>
              </a:ext>
            </a:extLst>
          </p:cNvPr>
          <p:cNvSpPr/>
          <p:nvPr/>
        </p:nvSpPr>
        <p:spPr>
          <a:xfrm>
            <a:off x="2035767" y="3215814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61DA8926-E303-DDDF-009B-27D0FDD4B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1236513"/>
            <a:ext cx="1657930" cy="1130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>
              <a:schemeClr val="accent1">
                <a:alpha val="46000"/>
              </a:schemeClr>
            </a:glow>
            <a:outerShdw blurRad="50800" dist="38100" dir="2700000" algn="tl" rotWithShape="0">
              <a:srgbClr val="000000">
                <a:alpha val="52000"/>
              </a:srgbClr>
            </a:outerShdw>
            <a:reflection stA="0" dist="1143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dna strand on a white background&#10;&#10;Description automatically generated">
            <a:extLst>
              <a:ext uri="{FF2B5EF4-FFF2-40B4-BE49-F238E27FC236}">
                <a16:creationId xmlns:a16="http://schemas.microsoft.com/office/drawing/2014/main" id="{8C3802C1-310D-95D5-9C01-36AB9341E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637" y="4643442"/>
            <a:ext cx="1675239" cy="1162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8" descr="Free Medical Icon Set Vector 109622 Vector Art at Vecteezy">
            <a:extLst>
              <a:ext uri="{FF2B5EF4-FFF2-40B4-BE49-F238E27FC236}">
                <a16:creationId xmlns:a16="http://schemas.microsoft.com/office/drawing/2014/main" id="{E50BC981-5D44-E968-1ECB-BA082A244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2924664"/>
            <a:ext cx="1675239" cy="1160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D75D4D8-C480-8F4F-D6AF-37F4CA65FC1A}"/>
              </a:ext>
            </a:extLst>
          </p:cNvPr>
          <p:cNvSpPr/>
          <p:nvPr/>
        </p:nvSpPr>
        <p:spPr>
          <a:xfrm>
            <a:off x="2755797" y="2977246"/>
            <a:ext cx="1793424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exploration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A992B33-769B-E241-BC7C-C19BB7A7D06A}"/>
              </a:ext>
            </a:extLst>
          </p:cNvPr>
          <p:cNvSpPr/>
          <p:nvPr/>
        </p:nvSpPr>
        <p:spPr>
          <a:xfrm>
            <a:off x="4619570" y="3196881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D179B2-EE03-B827-4904-C96563706C87}"/>
              </a:ext>
            </a:extLst>
          </p:cNvPr>
          <p:cNvSpPr/>
          <p:nvPr/>
        </p:nvSpPr>
        <p:spPr>
          <a:xfrm>
            <a:off x="5339600" y="2958564"/>
            <a:ext cx="142696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70152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1D6AB-A18C-05BE-C3C4-637EF2F19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062" y="792079"/>
            <a:ext cx="7465914" cy="592403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אתגר תמונות </a:t>
            </a:r>
            <a:r>
              <a:rPr lang="en-US" sz="2000" dirty="0"/>
              <a:t>WSI</a:t>
            </a:r>
            <a:r>
              <a:rPr lang="he-IL" sz="2000" dirty="0"/>
              <a:t> :</a:t>
            </a:r>
            <a:r>
              <a:rPr lang="en-US" sz="2000" dirty="0"/>
              <a:t> </a:t>
            </a:r>
            <a:r>
              <a:rPr lang="he-IL" sz="2000" dirty="0"/>
              <a:t>גודל התמונות</a:t>
            </a:r>
            <a:r>
              <a:rPr lang="en-US" sz="2000" dirty="0"/>
              <a:t> </a:t>
            </a:r>
            <a:r>
              <a:rPr lang="he-IL" sz="2000" dirty="0"/>
              <a:t>(</a:t>
            </a:r>
            <a:r>
              <a:rPr lang="en-US" sz="2000" dirty="0">
                <a:solidFill>
                  <a:prstClr val="black"/>
                </a:solidFill>
                <a:cs typeface="Arial" panose="020B0604020202020204" pitchFamily="34" charset="0"/>
              </a:rPr>
              <a:t>57768 x 23833 pixels</a:t>
            </a:r>
            <a:r>
              <a:rPr lang="he-IL" sz="2000" dirty="0">
                <a:solidFill>
                  <a:prstClr val="black"/>
                </a:solidFill>
              </a:rPr>
              <a:t> </a:t>
            </a:r>
            <a:r>
              <a:rPr lang="he-IL" sz="2000" dirty="0"/>
              <a:t>) מרכז הרבה מאוד מידע</a:t>
            </a:r>
            <a:endParaRPr lang="en-US" sz="2000" dirty="0"/>
          </a:p>
          <a:p>
            <a:pPr marL="0" indent="0" algn="r" rtl="1">
              <a:buNone/>
            </a:pP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מטודולוגיה </a:t>
            </a:r>
            <a:r>
              <a:rPr lang="en-US" sz="2000" dirty="0"/>
              <a:t>CLAM</a:t>
            </a:r>
            <a:r>
              <a:rPr lang="he-IL" sz="2000" dirty="0"/>
              <a:t> :</a:t>
            </a:r>
          </a:p>
          <a:p>
            <a:pPr marL="457200" indent="-457200" algn="r" rtl="1">
              <a:buAutoNum type="arabicPeriod"/>
            </a:pPr>
            <a:r>
              <a:rPr lang="he-IL" sz="2000" dirty="0">
                <a:solidFill>
                  <a:prstClr val="black"/>
                </a:solidFill>
              </a:rPr>
              <a:t>סגמנטציה : הפרדה של האיזורים מעניינים</a:t>
            </a:r>
          </a:p>
          <a:p>
            <a:pPr marL="457200" indent="-457200" algn="r" rtl="1">
              <a:buAutoNum type="arabicPeriod"/>
            </a:pPr>
            <a:endParaRPr lang="he-IL" sz="2000" dirty="0">
              <a:solidFill>
                <a:prstClr val="black"/>
              </a:solidFill>
            </a:endParaRPr>
          </a:p>
          <a:p>
            <a:pPr marL="457200" indent="-457200" algn="r" rtl="1">
              <a:buAutoNum type="arabicPeriod"/>
            </a:pPr>
            <a:r>
              <a:rPr lang="he-IL" sz="2000" dirty="0">
                <a:solidFill>
                  <a:prstClr val="black"/>
                </a:solidFill>
              </a:rPr>
              <a:t>חיתוך ל </a:t>
            </a:r>
            <a:r>
              <a:rPr lang="en-US" sz="2000" dirty="0">
                <a:solidFill>
                  <a:prstClr val="black"/>
                </a:solidFill>
                <a:cs typeface="Arial" panose="020B0604020202020204" pitchFamily="34" charset="0"/>
              </a:rPr>
              <a:t>patches</a:t>
            </a:r>
            <a:r>
              <a:rPr lang="he-IL" sz="2000" dirty="0">
                <a:solidFill>
                  <a:prstClr val="black"/>
                </a:solidFill>
              </a:rPr>
              <a:t> : במקרה שלנו חיתוך ב 256*256.</a:t>
            </a:r>
            <a:endParaRPr lang="en-US" sz="2000" dirty="0">
              <a:solidFill>
                <a:prstClr val="black"/>
              </a:solidFill>
            </a:endParaRPr>
          </a:p>
          <a:p>
            <a:pPr marL="457200" indent="-457200" algn="r" rtl="1">
              <a:buAutoNum type="arabicPeriod"/>
            </a:pPr>
            <a:endParaRPr lang="he-IL" sz="2000" dirty="0">
              <a:solidFill>
                <a:prstClr val="black"/>
              </a:solidFill>
            </a:endParaRPr>
          </a:p>
          <a:p>
            <a:pPr marL="457200" indent="-457200" algn="r" rtl="1">
              <a:buAutoNum type="arabicPeriod"/>
            </a:pPr>
            <a:r>
              <a:rPr lang="he-IL" sz="2000" dirty="0">
                <a:solidFill>
                  <a:prstClr val="black"/>
                </a:solidFill>
              </a:rPr>
              <a:t>כל </a:t>
            </a:r>
            <a:r>
              <a:rPr lang="en-US" sz="2000" dirty="0">
                <a:solidFill>
                  <a:prstClr val="black"/>
                </a:solidFill>
                <a:cs typeface="Arial" panose="020B0604020202020204" pitchFamily="34" charset="0"/>
              </a:rPr>
              <a:t>patches</a:t>
            </a:r>
            <a:r>
              <a:rPr lang="he-IL" sz="2000" dirty="0">
                <a:solidFill>
                  <a:prstClr val="black"/>
                </a:solidFill>
              </a:rPr>
              <a:t> עובר במודל </a:t>
            </a:r>
            <a:r>
              <a:rPr lang="en-US" sz="2000" dirty="0">
                <a:solidFill>
                  <a:prstClr val="black"/>
                </a:solidFill>
              </a:rPr>
              <a:t>ResNet50</a:t>
            </a:r>
            <a:r>
              <a:rPr lang="he-IL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skip connection - (ImageNet)</a:t>
            </a:r>
            <a:r>
              <a:rPr lang="he-IL" sz="2000" dirty="0">
                <a:solidFill>
                  <a:prstClr val="black"/>
                </a:solidFill>
              </a:rPr>
              <a:t> </a:t>
            </a:r>
          </a:p>
          <a:p>
            <a:pPr marL="457200" indent="-457200" algn="r" rtl="1">
              <a:buAutoNum type="arabicPeriod"/>
            </a:pPr>
            <a:endParaRPr lang="he-IL" sz="2000" dirty="0">
              <a:solidFill>
                <a:prstClr val="black"/>
              </a:solidFill>
            </a:endParaRPr>
          </a:p>
          <a:p>
            <a:pPr marL="457200" indent="-457200" algn="r" rtl="1">
              <a:buAutoNum type="arabicPeriod"/>
            </a:pPr>
            <a:r>
              <a:rPr lang="he-IL" sz="2000" dirty="0">
                <a:solidFill>
                  <a:prstClr val="black"/>
                </a:solidFill>
              </a:rPr>
              <a:t>מקבלים מאות </a:t>
            </a:r>
            <a:r>
              <a:rPr lang="en-US" sz="2000" dirty="0">
                <a:solidFill>
                  <a:prstClr val="black"/>
                </a:solidFill>
              </a:rPr>
              <a:t>patches</a:t>
            </a:r>
            <a:r>
              <a:rPr lang="he-IL" sz="2000" dirty="0">
                <a:solidFill>
                  <a:prstClr val="black"/>
                </a:solidFill>
              </a:rPr>
              <a:t> לתמונה</a:t>
            </a:r>
          </a:p>
          <a:p>
            <a:pPr marL="457200" indent="-457200" algn="r" rtl="1">
              <a:buAutoNum type="arabicPeriod"/>
            </a:pPr>
            <a:endParaRPr lang="he-IL" sz="2000" dirty="0">
              <a:solidFill>
                <a:prstClr val="black"/>
              </a:solidFill>
            </a:endParaRPr>
          </a:p>
          <a:p>
            <a:pPr marL="457200" indent="-457200" algn="r" rtl="1">
              <a:buAutoNum type="arabicPeriod"/>
            </a:pPr>
            <a:r>
              <a:rPr lang="en-US" sz="2000" dirty="0">
                <a:solidFill>
                  <a:prstClr val="black"/>
                </a:solidFill>
              </a:rPr>
              <a:t>Maxpooling</a:t>
            </a:r>
            <a:r>
              <a:rPr lang="he-IL" sz="2000" dirty="0">
                <a:solidFill>
                  <a:prstClr val="black"/>
                </a:solidFill>
              </a:rPr>
              <a:t> אגרגציה לרמה תמונה</a:t>
            </a: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he-IL" sz="2000" dirty="0">
              <a:solidFill>
                <a:prstClr val="black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175F28-F39B-E19D-D23C-2D76DF852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91024" y="690560"/>
            <a:ext cx="3895760" cy="118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7EB2F06-A3A0-86FC-C61B-5B58B2A11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3" y="2037093"/>
            <a:ext cx="6267735" cy="13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14745F-BE26-4104-52C3-E8607637E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" y="3543444"/>
            <a:ext cx="4636008" cy="275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DD9FBF9-1E2F-F99A-1D14-A90E91DC7C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dirty="0"/>
              <a:t>Feature Extraction WSI</a:t>
            </a:r>
          </a:p>
        </p:txBody>
      </p:sp>
    </p:spTree>
    <p:extLst>
      <p:ext uri="{BB962C8B-B14F-4D97-AF65-F5344CB8AC3E}">
        <p14:creationId xmlns:p14="http://schemas.microsoft.com/office/powerpoint/2010/main" val="1715486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CCA6EB-FC1F-FD07-B8D9-C89A5D14AF71}"/>
              </a:ext>
            </a:extLst>
          </p:cNvPr>
          <p:cNvSpPr txBox="1"/>
          <p:nvPr/>
        </p:nvSpPr>
        <p:spPr>
          <a:xfrm>
            <a:off x="47968" y="1428163"/>
            <a:ext cx="118151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המודל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resnet50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הוא חלק מהקטגוריה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CNN 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מיוצר ב2015 על ידי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Kaiming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He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הכולל 50 שכבות, כדי להתגבר על 2 בעיות היקריות :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 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כשמספר שכבות ברשת עולה , מספר הפרמטרים עולה, אימון פחות יעיל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Vanishing gradients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A0C3FC-F66F-E705-D88D-6BB2D4647C43}"/>
              </a:ext>
            </a:extLst>
          </p:cNvPr>
          <p:cNvSpPr/>
          <p:nvPr/>
        </p:nvSpPr>
        <p:spPr>
          <a:xfrm>
            <a:off x="9448798" y="342259"/>
            <a:ext cx="2414335" cy="93248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CNN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MLP                          RNN LSTM                                 GAN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4A76D-D3CE-DF39-5CBE-890904519C6B}"/>
              </a:ext>
            </a:extLst>
          </p:cNvPr>
          <p:cNvSpPr txBox="1"/>
          <p:nvPr/>
        </p:nvSpPr>
        <p:spPr>
          <a:xfrm>
            <a:off x="342507" y="2798348"/>
            <a:ext cx="11520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היציאה של שכבה מסויימת , מוסיפים אותה ישר לשכבה כמה שלבים קדימה בסוג של קפיצה של שכבה.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זה מייצר דרך אלטרנטיבי למידע ומאפשר קפיצה בין שכבות כדי לא להיות מחויב לעבור בכולן.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בשכבה שמקבלת את המידע הזה התוצאה תהיה מה שהשכבה חישבה + המידע שהגיע בנוסף , סוג של קומבינציה של המידע.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0C0C0"/>
              </a:highlight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8" descr="Understanding ResNet50 architecture">
            <a:extLst>
              <a:ext uri="{FF2B5EF4-FFF2-40B4-BE49-F238E27FC236}">
                <a16:creationId xmlns:a16="http://schemas.microsoft.com/office/drawing/2014/main" id="{46FF7338-1BA6-E1DA-8F19-E2B5FDE23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97" y="4330283"/>
            <a:ext cx="5193823" cy="23396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A92589-32AA-FE80-C34E-9FA9E411C54A}"/>
              </a:ext>
            </a:extLst>
          </p:cNvPr>
          <p:cNvSpPr txBox="1"/>
          <p:nvPr/>
        </p:nvSpPr>
        <p:spPr>
          <a:xfrm>
            <a:off x="5556755" y="4229509"/>
            <a:ext cx="64256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יתרונות : 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הגראדינאט יכול להסתובב יותר בקלות ולא חייב לעבור בכל השכבות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Arial" panose="020B0604020202020204" pitchFamily="34" charset="0"/>
              </a:rPr>
              <a:t>למידה יותר מהירה בדרך יותר קצרה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Arial" panose="020B0604020202020204" pitchFamily="34" charset="0"/>
              </a:rPr>
              <a:t>גם אם שכבה לא למדה כמו שצריך אז היא יכולה לתקן את עצמה על ידי המידע המקורית. 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Arial" panose="020B0604020202020204" pitchFamily="34" charset="0"/>
              </a:rPr>
              <a:t>שימור מידע החשוב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8FA963-1B49-EFD2-E673-78E5EAD8BF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dirty="0"/>
              <a:t>Resnet50</a:t>
            </a:r>
          </a:p>
        </p:txBody>
      </p:sp>
    </p:spTree>
    <p:extLst>
      <p:ext uri="{BB962C8B-B14F-4D97-AF65-F5344CB8AC3E}">
        <p14:creationId xmlns:p14="http://schemas.microsoft.com/office/powerpoint/2010/main" val="372357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3BF16-A970-1794-A2B8-C343300F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E9272FA-8A68-3F91-ED8E-624AE4027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25"/>
          <a:stretch>
            <a:fillRect/>
          </a:stretch>
        </p:blipFill>
        <p:spPr bwMode="auto">
          <a:xfrm>
            <a:off x="450125" y="1966701"/>
            <a:ext cx="2234084" cy="100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27C3A2-F10E-0105-87BF-F47E768A8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145" y="2360924"/>
            <a:ext cx="2574458" cy="141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C9E214F-70BC-A55F-73B3-733D92CC9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13"/>
          <a:stretch>
            <a:fillRect/>
          </a:stretch>
        </p:blipFill>
        <p:spPr bwMode="auto">
          <a:xfrm>
            <a:off x="450125" y="3168548"/>
            <a:ext cx="2234081" cy="100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orests | Free Full-Text | Computer Vision-Based Wood Identification: A ...">
            <a:extLst>
              <a:ext uri="{FF2B5EF4-FFF2-40B4-BE49-F238E27FC236}">
                <a16:creationId xmlns:a16="http://schemas.microsoft.com/office/drawing/2014/main" id="{9561CEDF-EFB0-08B7-8B36-4959C5A43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86" t="12437" r="28570"/>
          <a:stretch>
            <a:fillRect/>
          </a:stretch>
        </p:blipFill>
        <p:spPr bwMode="auto">
          <a:xfrm>
            <a:off x="5800539" y="1691288"/>
            <a:ext cx="3093693" cy="256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trix Vitaliy Gorbachev Lineal icon">
            <a:extLst>
              <a:ext uri="{FF2B5EF4-FFF2-40B4-BE49-F238E27FC236}">
                <a16:creationId xmlns:a16="http://schemas.microsoft.com/office/drawing/2014/main" id="{581A0149-45D8-55F9-7D7F-589C0D1CA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912" y="2143074"/>
            <a:ext cx="584259" cy="58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Matrix Vitaliy Gorbachev Lineal icon">
            <a:extLst>
              <a:ext uri="{FF2B5EF4-FFF2-40B4-BE49-F238E27FC236}">
                <a16:creationId xmlns:a16="http://schemas.microsoft.com/office/drawing/2014/main" id="{ED8F2A8D-462F-D57D-7FDD-75D99D5E6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910" y="2776070"/>
            <a:ext cx="584259" cy="58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Matrix Vitaliy Gorbachev Lineal icon">
            <a:extLst>
              <a:ext uri="{FF2B5EF4-FFF2-40B4-BE49-F238E27FC236}">
                <a16:creationId xmlns:a16="http://schemas.microsoft.com/office/drawing/2014/main" id="{B21D1F0E-7DF5-99AE-2D99-18DE891A9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911" y="3409066"/>
            <a:ext cx="584259" cy="58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eft Brace 13">
            <a:extLst>
              <a:ext uri="{FF2B5EF4-FFF2-40B4-BE49-F238E27FC236}">
                <a16:creationId xmlns:a16="http://schemas.microsoft.com/office/drawing/2014/main" id="{D37E9D4E-F849-2BB2-BFBA-4C694424F946}"/>
              </a:ext>
            </a:extLst>
          </p:cNvPr>
          <p:cNvSpPr/>
          <p:nvPr/>
        </p:nvSpPr>
        <p:spPr>
          <a:xfrm rot="10800000">
            <a:off x="9882631" y="2143074"/>
            <a:ext cx="690571" cy="1946855"/>
          </a:xfrm>
          <a:prstGeom prst="lef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2" descr="Matrix Vitaliy Gorbachev Lineal icon">
            <a:extLst>
              <a:ext uri="{FF2B5EF4-FFF2-40B4-BE49-F238E27FC236}">
                <a16:creationId xmlns:a16="http://schemas.microsoft.com/office/drawing/2014/main" id="{EF68B4B4-DB52-F409-BCEA-C1CDEC23A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662" y="2589162"/>
            <a:ext cx="1139745" cy="113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A52EBC-F467-1CE5-67F3-94B6F6A8AD05}"/>
              </a:ext>
            </a:extLst>
          </p:cNvPr>
          <p:cNvSpPr txBox="1"/>
          <p:nvPr/>
        </p:nvSpPr>
        <p:spPr>
          <a:xfrm>
            <a:off x="1317126" y="1512962"/>
            <a:ext cx="6288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WSI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B4B26-5700-4F86-E5F1-C44C34EDD124}"/>
              </a:ext>
            </a:extLst>
          </p:cNvPr>
          <p:cNvSpPr txBox="1"/>
          <p:nvPr/>
        </p:nvSpPr>
        <p:spPr>
          <a:xfrm>
            <a:off x="764976" y="4252577"/>
            <a:ext cx="16043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Segmentation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A4593A-7F63-C226-5624-848AC50334EE}"/>
              </a:ext>
            </a:extLst>
          </p:cNvPr>
          <p:cNvSpPr txBox="1"/>
          <p:nvPr/>
        </p:nvSpPr>
        <p:spPr>
          <a:xfrm>
            <a:off x="3102440" y="3976447"/>
            <a:ext cx="22798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Patches (256 × 256)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375241-3F2D-C494-842E-9BA3C508DC7C}"/>
              </a:ext>
            </a:extLst>
          </p:cNvPr>
          <p:cNvSpPr txBox="1"/>
          <p:nvPr/>
        </p:nvSpPr>
        <p:spPr>
          <a:xfrm>
            <a:off x="6106827" y="4437243"/>
            <a:ext cx="24811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Extraction (ResNet50)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CB18A1-B2F4-0CD2-F709-649BBD51086B}"/>
              </a:ext>
            </a:extLst>
          </p:cNvPr>
          <p:cNvSpPr txBox="1"/>
          <p:nvPr/>
        </p:nvSpPr>
        <p:spPr>
          <a:xfrm>
            <a:off x="8998395" y="4490392"/>
            <a:ext cx="13795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MaxPooling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0C0C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2A922C-09E9-64AC-AAA0-181B8FB2E4DC}"/>
              </a:ext>
            </a:extLst>
          </p:cNvPr>
          <p:cNvSpPr txBox="1"/>
          <p:nvPr/>
        </p:nvSpPr>
        <p:spPr>
          <a:xfrm>
            <a:off x="10377943" y="3824210"/>
            <a:ext cx="1749589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4043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Final vector</a:t>
            </a:r>
          </a:p>
          <a:p>
            <a:pPr lvl="0" rtl="1">
              <a:defRPr/>
            </a:pPr>
            <a:r>
              <a:rPr lang="en-US" altLang="en-IL" sz="1600" dirty="0">
                <a:latin typeface="Arial" panose="020B0604020202020204" pitchFamily="34" charset="0"/>
              </a:rPr>
              <a:t>2048 dimensions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52B2DC-61DE-DC15-B9D5-FB79BF4744F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dirty="0"/>
              <a:t>Feature Extraction WSI</a:t>
            </a:r>
          </a:p>
        </p:txBody>
      </p:sp>
    </p:spTree>
    <p:extLst>
      <p:ext uri="{BB962C8B-B14F-4D97-AF65-F5344CB8AC3E}">
        <p14:creationId xmlns:p14="http://schemas.microsoft.com/office/powerpoint/2010/main" val="13618402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3EDF7-EA72-A8A1-CDFE-619609CC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B18A7E2F-7C27-35D7-5274-A7C6314F30EB}"/>
              </a:ext>
            </a:extLst>
          </p:cNvPr>
          <p:cNvSpPr/>
          <p:nvPr/>
        </p:nvSpPr>
        <p:spPr>
          <a:xfrm>
            <a:off x="2035767" y="3215814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CE481CEC-7464-FF99-BD60-7AD766514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1236513"/>
            <a:ext cx="1657930" cy="1130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>
              <a:schemeClr val="accent1">
                <a:alpha val="46000"/>
              </a:schemeClr>
            </a:glow>
            <a:outerShdw blurRad="50800" dist="38100" dir="2700000" algn="tl" rotWithShape="0">
              <a:srgbClr val="000000">
                <a:alpha val="52000"/>
              </a:srgbClr>
            </a:outerShdw>
            <a:reflection stA="0" dist="1143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dna strand on a white background&#10;&#10;Description automatically generated">
            <a:extLst>
              <a:ext uri="{FF2B5EF4-FFF2-40B4-BE49-F238E27FC236}">
                <a16:creationId xmlns:a16="http://schemas.microsoft.com/office/drawing/2014/main" id="{15375C77-4559-160C-6F6A-F8369F89B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637" y="4643442"/>
            <a:ext cx="1675239" cy="1162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8" descr="Free Medical Icon Set Vector 109622 Vector Art at Vecteezy">
            <a:extLst>
              <a:ext uri="{FF2B5EF4-FFF2-40B4-BE49-F238E27FC236}">
                <a16:creationId xmlns:a16="http://schemas.microsoft.com/office/drawing/2014/main" id="{BBBBB06B-A8B1-DA08-1695-DCF71CA96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2924664"/>
            <a:ext cx="1675239" cy="1160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A92E880-F4D3-4012-32E0-CE0B203B594C}"/>
              </a:ext>
            </a:extLst>
          </p:cNvPr>
          <p:cNvCxnSpPr>
            <a:cxnSpLocks/>
          </p:cNvCxnSpPr>
          <p:nvPr/>
        </p:nvCxnSpPr>
        <p:spPr>
          <a:xfrm flipV="1">
            <a:off x="6670917" y="2641923"/>
            <a:ext cx="872822" cy="753177"/>
          </a:xfrm>
          <a:prstGeom prst="bentConnector3">
            <a:avLst>
              <a:gd name="adj1" fmla="val 37869"/>
            </a:avLst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22830DC-A59C-C184-A837-E7A409E4085F}"/>
              </a:ext>
            </a:extLst>
          </p:cNvPr>
          <p:cNvSpPr/>
          <p:nvPr/>
        </p:nvSpPr>
        <p:spPr>
          <a:xfrm>
            <a:off x="7543739" y="2202770"/>
            <a:ext cx="165793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WSI Embedding optimization</a:t>
            </a:r>
            <a:endParaRPr lang="en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3B10F2-A98C-039A-25D2-C98DF6B4C037}"/>
              </a:ext>
            </a:extLst>
          </p:cNvPr>
          <p:cNvSpPr/>
          <p:nvPr/>
        </p:nvSpPr>
        <p:spPr>
          <a:xfrm>
            <a:off x="2755797" y="2977246"/>
            <a:ext cx="1675239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exploration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74E1B06-1A24-9CE5-B443-D7C1A69182A8}"/>
              </a:ext>
            </a:extLst>
          </p:cNvPr>
          <p:cNvSpPr/>
          <p:nvPr/>
        </p:nvSpPr>
        <p:spPr>
          <a:xfrm>
            <a:off x="4523927" y="3181913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173BEF-E0EF-3E15-7131-CC415DCC299A}"/>
              </a:ext>
            </a:extLst>
          </p:cNvPr>
          <p:cNvSpPr/>
          <p:nvPr/>
        </p:nvSpPr>
        <p:spPr>
          <a:xfrm>
            <a:off x="5243957" y="2924664"/>
            <a:ext cx="142696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45345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7F2F8-FAE9-BCFB-6BCB-3F083EF8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54296-1192-F6FC-D963-B05DB30EE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9432" y="792080"/>
            <a:ext cx="7501544" cy="306668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בוצע ניתוח מעמיק של שני מאפיינים : מרחק בתוך כל אחד הקלאסים, מרחק בין קלאסים שונים</a:t>
            </a:r>
            <a:r>
              <a:rPr lang="en-US" sz="2000" dirty="0"/>
              <a:t> 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 מרחק בין כל נקודה במרחב לכל השאר </a:t>
            </a:r>
          </a:p>
          <a:p>
            <a:pPr marL="0" indent="0" algn="r" rtl="1">
              <a:buNone/>
            </a:pPr>
            <a:r>
              <a:rPr lang="he-IL" sz="2000" dirty="0"/>
              <a:t>באמצעות שני שיטות : </a:t>
            </a:r>
          </a:p>
          <a:p>
            <a:pPr marL="0" indent="0" algn="r" rtl="1">
              <a:buNone/>
            </a:pPr>
            <a:r>
              <a:rPr lang="en-US" sz="2000" dirty="0"/>
              <a:t>Cosine distance</a:t>
            </a:r>
            <a:r>
              <a:rPr lang="he-IL" sz="2000" dirty="0"/>
              <a:t>: מודד את הדמיון הזוויתי – קרוב לאפס הוקטורים "דומים"</a:t>
            </a:r>
          </a:p>
          <a:p>
            <a:pPr marL="0" indent="0" algn="r" rtl="1">
              <a:buNone/>
            </a:pPr>
            <a:r>
              <a:rPr lang="en-US" sz="2000" dirty="0"/>
              <a:t>Euclidean distance</a:t>
            </a:r>
            <a:r>
              <a:rPr lang="he-IL" sz="2000" dirty="0"/>
              <a:t>: מודד את ההפרדה הגיאומטרית הישירה - קרוב לאפס הוקטורים "דומים"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C4EBDD-0EE6-AFF9-8EB5-846B01D1F05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dirty="0"/>
              <a:t>General explication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95888B-5719-0A40-9F84-DBE120272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81" y="423166"/>
            <a:ext cx="3428190" cy="2817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C62452-DAED-F374-6303-526319825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81" y="3617530"/>
            <a:ext cx="3428190" cy="281730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8417B7-FA6D-8F45-281F-5381B934E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390287"/>
              </p:ext>
            </p:extLst>
          </p:nvPr>
        </p:nvGraphicFramePr>
        <p:xfrm>
          <a:off x="3886200" y="3965478"/>
          <a:ext cx="7882130" cy="21214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251">
                  <a:extLst>
                    <a:ext uri="{9D8B030D-6E8A-4147-A177-3AD203B41FA5}">
                      <a16:colId xmlns:a16="http://schemas.microsoft.com/office/drawing/2014/main" val="4161317742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2753333608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3966200754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2469006050"/>
                    </a:ext>
                  </a:extLst>
                </a:gridCol>
                <a:gridCol w="1577126">
                  <a:extLst>
                    <a:ext uri="{9D8B030D-6E8A-4147-A177-3AD203B41FA5}">
                      <a16:colId xmlns:a16="http://schemas.microsoft.com/office/drawing/2014/main" val="3434558233"/>
                    </a:ext>
                  </a:extLst>
                </a:gridCol>
              </a:tblGrid>
              <a:tr h="7318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Class + split</a:t>
                      </a:r>
                      <a:endParaRPr lang="en-I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Intra Mean cosine</a:t>
                      </a:r>
                      <a:endParaRPr lang="en-I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Inter Mean cosine</a:t>
                      </a:r>
                      <a:endParaRPr lang="en-I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Intra mean Euclidean</a:t>
                      </a:r>
                      <a:endParaRPr lang="en-I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Inter mean Euclidean</a:t>
                      </a:r>
                      <a:endParaRPr lang="en-I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0637398"/>
                  </a:ext>
                </a:extLst>
              </a:tr>
              <a:tr h="3473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Train + Val class 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0.127 ± 0.043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0.135 ± 0.042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0.498 ± 0.082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0.514 ± 0.078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217468"/>
                  </a:ext>
                </a:extLst>
              </a:tr>
              <a:tr h="3473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Train + Val class 1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0.140 ± 0.043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0.523 ± 0.081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953981"/>
                  </a:ext>
                </a:extLst>
              </a:tr>
              <a:tr h="3473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class 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0.126 ± 0.040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0.134 ± 0.040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0.496 ± 0.081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0.512 ± 0.075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1530431"/>
                  </a:ext>
                </a:extLst>
              </a:tr>
              <a:tr h="3473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Test class 1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0.136 ± 0.045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0.515 ± 0.086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6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63484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21292-7649-0344-8A36-13D0846C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CBD1C6-C70C-B786-6958-2607F8A853E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>
                <a:solidFill>
                  <a:prstClr val="black"/>
                </a:solidFill>
                <a:latin typeface="Aptos" panose="02110004020202020204"/>
              </a:rPr>
              <a:t>Triplet Loss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028FC1-39B5-651F-4885-231D58947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10"/>
          <a:stretch>
            <a:fillRect/>
          </a:stretch>
        </p:blipFill>
        <p:spPr>
          <a:xfrm>
            <a:off x="1218868" y="708301"/>
            <a:ext cx="2913804" cy="2600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7F8CD-C01D-B2FB-4710-7A9714C65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42" r="40841"/>
          <a:stretch>
            <a:fillRect/>
          </a:stretch>
        </p:blipFill>
        <p:spPr>
          <a:xfrm>
            <a:off x="4522150" y="708301"/>
            <a:ext cx="2025446" cy="2600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160A47-AE60-2FB7-A9A5-C2550B121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31" r="-2586"/>
          <a:stretch>
            <a:fillRect/>
          </a:stretch>
        </p:blipFill>
        <p:spPr>
          <a:xfrm>
            <a:off x="7408275" y="708300"/>
            <a:ext cx="3396688" cy="2600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738495-BED0-CF0A-6DD9-ECA13B103822}"/>
                  </a:ext>
                </a:extLst>
              </p:cNvPr>
              <p:cNvSpPr txBox="1"/>
              <p:nvPr/>
            </p:nvSpPr>
            <p:spPr>
              <a:xfrm>
                <a:off x="-249358" y="3838112"/>
                <a:ext cx="76576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L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L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L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L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L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IL" sz="2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L" sz="240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  0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/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IL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IL" sz="2400" i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IL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L" sz="2400" i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IL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𝑚𝑎𝑟𝑔𝑖𝑛</m:t>
                              </m:r>
                              <m:r>
                                <a:rPr lang="en-IL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738495-BED0-CF0A-6DD9-ECA13B103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9358" y="3838112"/>
                <a:ext cx="7657633" cy="461665"/>
              </a:xfrm>
              <a:prstGeom prst="rect">
                <a:avLst/>
              </a:prstGeom>
              <a:blipFill>
                <a:blip r:embed="rId3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2BA7F7-81C6-C1BC-2B09-C3BC91E9F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1568" y="5477255"/>
            <a:ext cx="8667846" cy="1167835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אם הדוגמה שלילית לא מספיק רחוקה (מרחק + </a:t>
            </a:r>
            <a:r>
              <a:rPr lang="en-US" sz="2000" dirty="0"/>
              <a:t>margin</a:t>
            </a:r>
            <a:r>
              <a:rPr lang="he-IL" sz="2000" dirty="0"/>
              <a:t>) – </a:t>
            </a:r>
            <a:r>
              <a:rPr lang="en-US" sz="2000" dirty="0"/>
              <a:t>loss &gt; 0 </a:t>
            </a:r>
            <a:r>
              <a:rPr lang="he-IL" sz="2000" dirty="0"/>
              <a:t> - המודל לומד</a:t>
            </a:r>
          </a:p>
          <a:p>
            <a:pPr marL="0" indent="0" algn="r" rtl="1">
              <a:buNone/>
            </a:pPr>
            <a:r>
              <a:rPr lang="he-IL" sz="2000" dirty="0"/>
              <a:t>אם הדוגמה השלילית רחוק מספיק – </a:t>
            </a:r>
            <a:r>
              <a:rPr lang="en-US" sz="2000" dirty="0"/>
              <a:t>loss = 0</a:t>
            </a:r>
            <a:r>
              <a:rPr lang="he-IL" sz="2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EF5BA8-8BD3-8FA4-438C-117694234C25}"/>
                  </a:ext>
                </a:extLst>
              </p:cNvPr>
              <p:cNvSpPr txBox="1"/>
              <p:nvPr/>
            </p:nvSpPr>
            <p:spPr>
              <a:xfrm>
                <a:off x="7735491" y="3838111"/>
                <a:ext cx="4301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24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L" sz="24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IL" sz="24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𝑚𝑎𝑟𝑔𝑖𝑛</m:t>
                      </m:r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EF5BA8-8BD3-8FA4-438C-117694234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491" y="3838111"/>
                <a:ext cx="4301490" cy="461665"/>
              </a:xfrm>
              <a:prstGeom prst="rect">
                <a:avLst/>
              </a:prstGeom>
              <a:blipFill>
                <a:blip r:embed="rId4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3906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887FC-C80D-DACE-138A-D533A623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CEAA-53A1-909D-799F-06689F01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032" y="792080"/>
            <a:ext cx="7373944" cy="158536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>
                <a:solidFill>
                  <a:prstClr val="black"/>
                </a:solidFill>
              </a:rPr>
              <a:t>במקרה שלנו בחרנו וקטור של </a:t>
            </a:r>
            <a:r>
              <a:rPr lang="en-US" sz="2000" dirty="0">
                <a:solidFill>
                  <a:prstClr val="black"/>
                </a:solidFill>
              </a:rPr>
              <a:t>WSI</a:t>
            </a:r>
            <a:r>
              <a:rPr lang="he-IL" sz="2000" dirty="0">
                <a:solidFill>
                  <a:prstClr val="black"/>
                </a:solidFill>
              </a:rPr>
              <a:t> בצורה רנדומלית (</a:t>
            </a:r>
            <a:r>
              <a:rPr lang="en-US" sz="2000" dirty="0">
                <a:solidFill>
                  <a:prstClr val="black"/>
                </a:solidFill>
              </a:rPr>
              <a:t>A</a:t>
            </a:r>
            <a:r>
              <a:rPr lang="he-IL" sz="2000" dirty="0">
                <a:solidFill>
                  <a:prstClr val="black"/>
                </a:solidFill>
              </a:rPr>
              <a:t>) , וקטור מאותו מטופל (</a:t>
            </a:r>
            <a:r>
              <a:rPr lang="en-US" sz="2000" dirty="0">
                <a:solidFill>
                  <a:prstClr val="black"/>
                </a:solidFill>
              </a:rPr>
              <a:t>P</a:t>
            </a:r>
            <a:r>
              <a:rPr lang="he-IL" sz="2000" dirty="0">
                <a:solidFill>
                  <a:prstClr val="black"/>
                </a:solidFill>
              </a:rPr>
              <a:t>) מה שמאפשר גם לכידות תוך-מטופל ובתוך הקלאס ווקטור שלילית ממטופל אחד (</a:t>
            </a:r>
            <a:r>
              <a:rPr lang="en-US" sz="2000" dirty="0">
                <a:solidFill>
                  <a:prstClr val="black"/>
                </a:solidFill>
              </a:rPr>
              <a:t>N</a:t>
            </a:r>
            <a:r>
              <a:rPr lang="he-IL" sz="2000" dirty="0">
                <a:solidFill>
                  <a:prstClr val="black"/>
                </a:solidFill>
              </a:rPr>
              <a:t>).</a:t>
            </a:r>
          </a:p>
          <a:p>
            <a:pPr marL="0" indent="0" algn="r" rtl="1">
              <a:buNone/>
            </a:pPr>
            <a:r>
              <a:rPr lang="he-IL" sz="2000" dirty="0">
                <a:solidFill>
                  <a:prstClr val="black"/>
                </a:solidFill>
              </a:rPr>
              <a:t>סה"כ 3009 </a:t>
            </a:r>
            <a:r>
              <a:rPr lang="en-US" sz="2000" dirty="0">
                <a:solidFill>
                  <a:prstClr val="black"/>
                </a:solidFill>
              </a:rPr>
              <a:t>triplets</a:t>
            </a:r>
          </a:p>
          <a:p>
            <a:pPr marL="0" indent="0" algn="r" rtl="1">
              <a:buNone/>
            </a:pPr>
            <a:endParaRPr lang="he-IL" sz="2000" dirty="0">
              <a:solidFill>
                <a:prstClr val="black"/>
              </a:solidFill>
            </a:endParaRPr>
          </a:p>
          <a:p>
            <a:pPr marL="0" indent="0" algn="r" rtl="1">
              <a:buNone/>
            </a:pPr>
            <a:endParaRPr lang="he-IL" sz="2000" dirty="0">
              <a:solidFill>
                <a:prstClr val="black"/>
              </a:solidFill>
            </a:endParaRPr>
          </a:p>
          <a:p>
            <a:pPr marL="0" indent="0" algn="r" rtl="1">
              <a:buNone/>
            </a:pPr>
            <a:endParaRPr lang="he-IL" sz="2000" dirty="0">
              <a:solidFill>
                <a:prstClr val="black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740C3-66A8-A2E8-E8CB-B12227682A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>
                <a:solidFill>
                  <a:prstClr val="black"/>
                </a:solidFill>
                <a:latin typeface="Aptos" panose="02110004020202020204"/>
              </a:rPr>
              <a:t>Triplet Loss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FEB14-C43D-2B38-A9A8-9AAC58FBB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2" y="152402"/>
            <a:ext cx="3817086" cy="3104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94629-07D4-89FB-5671-37C4DB2EF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" y="3408955"/>
            <a:ext cx="3817086" cy="313690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C32A46-8AD8-A360-A989-D1556FCCE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966099"/>
              </p:ext>
            </p:extLst>
          </p:nvPr>
        </p:nvGraphicFramePr>
        <p:xfrm>
          <a:off x="4029388" y="2247676"/>
          <a:ext cx="8071586" cy="1766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4138">
                  <a:extLst>
                    <a:ext uri="{9D8B030D-6E8A-4147-A177-3AD203B41FA5}">
                      <a16:colId xmlns:a16="http://schemas.microsoft.com/office/drawing/2014/main" val="4262740661"/>
                    </a:ext>
                  </a:extLst>
                </a:gridCol>
                <a:gridCol w="1614138">
                  <a:extLst>
                    <a:ext uri="{9D8B030D-6E8A-4147-A177-3AD203B41FA5}">
                      <a16:colId xmlns:a16="http://schemas.microsoft.com/office/drawing/2014/main" val="2553921604"/>
                    </a:ext>
                  </a:extLst>
                </a:gridCol>
                <a:gridCol w="1614138">
                  <a:extLst>
                    <a:ext uri="{9D8B030D-6E8A-4147-A177-3AD203B41FA5}">
                      <a16:colId xmlns:a16="http://schemas.microsoft.com/office/drawing/2014/main" val="3139395993"/>
                    </a:ext>
                  </a:extLst>
                </a:gridCol>
                <a:gridCol w="1614138">
                  <a:extLst>
                    <a:ext uri="{9D8B030D-6E8A-4147-A177-3AD203B41FA5}">
                      <a16:colId xmlns:a16="http://schemas.microsoft.com/office/drawing/2014/main" val="1740556337"/>
                    </a:ext>
                  </a:extLst>
                </a:gridCol>
                <a:gridCol w="1615034">
                  <a:extLst>
                    <a:ext uri="{9D8B030D-6E8A-4147-A177-3AD203B41FA5}">
                      <a16:colId xmlns:a16="http://schemas.microsoft.com/office/drawing/2014/main" val="1880900992"/>
                    </a:ext>
                  </a:extLst>
                </a:gridCol>
              </a:tblGrid>
              <a:tr h="2753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Class + split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Intra Mean cosine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Inter Mean cosine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Intra mean Euclidean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Inter mean Euclidean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343952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Train class 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0.6497 ± 0.0580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0.5821 ± 0.0670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0.9631 ± 0.0920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0.9612 ± 0.0880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8707497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Train class 1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0.4778 ± 0.0510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0.8380 ± 0.0810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164132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class 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0.4897 ± 0.0720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0.4972 ± 0.0640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0.8515 ± 0.1040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0.8743 ± 0.0960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143674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class 1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0.4315 ± 0.0630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0.7696 ± 0.0890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5540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0E58072-6745-1DD2-DD0D-4E8DD4C25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2" y="4481305"/>
            <a:ext cx="6752815" cy="20975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35A900-659D-32E8-B022-D4D782364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303" y="4442352"/>
            <a:ext cx="4507435" cy="2097552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CE77F94-EF0B-EA4D-EEBF-4B68512D96F6}"/>
              </a:ext>
            </a:extLst>
          </p:cNvPr>
          <p:cNvSpPr txBox="1">
            <a:spLocks/>
          </p:cNvSpPr>
          <p:nvPr/>
        </p:nvSpPr>
        <p:spPr>
          <a:xfrm>
            <a:off x="5536975" y="3994721"/>
            <a:ext cx="2877029" cy="525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en-US" dirty="0"/>
              <a:t>Bacc = </a:t>
            </a:r>
            <a:r>
              <a:rPr lang="en-IL" dirty="0"/>
              <a:t>0.6</a:t>
            </a:r>
            <a:r>
              <a:rPr lang="en-US" dirty="0"/>
              <a:t>4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268455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2DB7D-A099-6283-E16B-D9B7D487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5CEAA-2E4D-F927-72A4-8A69BBEA6A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9179" y="792081"/>
                <a:ext cx="10771797" cy="5655854"/>
              </a:xfrm>
            </p:spPr>
            <p:txBody>
              <a:bodyPr>
                <a:normAutofit/>
              </a:bodyPr>
              <a:lstStyle/>
              <a:p>
                <a:pPr marL="0" indent="0" algn="r" rtl="1">
                  <a:buNone/>
                </a:pPr>
                <a:r>
                  <a:rPr lang="he-IL" sz="2000" dirty="0"/>
                  <a:t>עובד בזוגות המטרה של השיטה : לקחת כלך פעם זוג וקטורים : </a:t>
                </a:r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endParaRPr lang="en-US" sz="2000" dirty="0"/>
              </a:p>
              <a:p>
                <a:pPr marL="0" indent="0" algn="r" rtl="1">
                  <a:buNone/>
                </a:pPr>
                <a:r>
                  <a:rPr lang="he-IL" sz="2000" dirty="0"/>
                  <a:t>אותו קלאס : </a:t>
                </a:r>
                <a14:m>
                  <m:oMath xmlns:m="http://schemas.openxmlformats.org/officeDocument/2006/math">
                    <m:r>
                      <a:rPr lang="en-IL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L" sz="200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L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L" sz="2000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IL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L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L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L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L" sz="2000">
                                <a:latin typeface="Cambria Math" panose="02040503050406030204" pitchFamily="18" charset="0"/>
                              </a:rPr>
                              <m:t>​,</m:t>
                            </m:r>
                            <m:sSub>
                              <m:sSubPr>
                                <m:ctrlPr>
                                  <a:rPr lang="en-IL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L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L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L" sz="20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IL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000" dirty="0">
                    <a:solidFill>
                      <a:prstClr val="black"/>
                    </a:solidFill>
                  </a:rPr>
                  <a:t> מקרב את הוקטורים</a:t>
                </a:r>
              </a:p>
              <a:p>
                <a:pPr marL="0" indent="0" algn="r" rtl="1">
                  <a:buNone/>
                </a:pPr>
                <a:r>
                  <a:rPr lang="he-IL" sz="2000" dirty="0">
                    <a:solidFill>
                      <a:prstClr val="black"/>
                    </a:solidFill>
                  </a:rPr>
                  <a:t>קלאס שונה : </a:t>
                </a:r>
                <a14:m>
                  <m:oMath xmlns:m="http://schemas.openxmlformats.org/officeDocument/2006/math">
                    <m:r>
                      <a:rPr lang="en-IL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L" sz="200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L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IL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L" sz="20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fName>
                          <m:e>
                            <m:d>
                              <m:dPr>
                                <m:sepChr m:val=","/>
                                <m:ctrlPr>
                                  <a:rPr lang="en-IL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L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IL" sz="20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𝑚𝑎𝑟𝑔𝑖𝑛</m:t>
                                </m:r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L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L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IL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L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L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L" sz="20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L" sz="200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sSub>
                                      <m:sSubPr>
                                        <m:ctrlPr>
                                          <a:rPr lang="en-IL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L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L" sz="20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L" sz="200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  <m:sup>
                        <m:r>
                          <a:rPr lang="en-IL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000" dirty="0">
                    <a:solidFill>
                      <a:prstClr val="black"/>
                    </a:solidFill>
                  </a:rPr>
                  <a:t> מרחק את הוקטורים</a:t>
                </a:r>
                <a:endParaRPr lang="en-IL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F5CEAA-2E4D-F927-72A4-8A69BBEA6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9179" y="792081"/>
                <a:ext cx="10771797" cy="5655854"/>
              </a:xfrm>
              <a:blipFill>
                <a:blip r:embed="rId2"/>
                <a:stretch>
                  <a:fillRect t="-1078" r="-6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DE272D7-7E5D-8FED-3DFF-D2A10E3BD9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Contrastive Learning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6BAAFD-F46E-EC38-99C2-A2B7044CE13D}"/>
                  </a:ext>
                </a:extLst>
              </p:cNvPr>
              <p:cNvSpPr txBox="1"/>
              <p:nvPr/>
            </p:nvSpPr>
            <p:spPr>
              <a:xfrm>
                <a:off x="1131217" y="3845123"/>
                <a:ext cx="94833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24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L" sz="2400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L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L" sz="2400" i="0">
                          <a:latin typeface="Cambria Math" panose="02040503050406030204" pitchFamily="18" charset="0"/>
                        </a:rPr>
                        <m:t> ⋅ </m:t>
                      </m:r>
                      <m:sSup>
                        <m:sSup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L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L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L" sz="2400" i="0">
                                  <a:latin typeface="Cambria Math" panose="02040503050406030204" pitchFamily="18" charset="0"/>
                                </a:rPr>
                                <m:t>​,</m:t>
                              </m:r>
                              <m:sSub>
                                <m:sSubPr>
                                  <m:ctrlP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L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L" sz="2400" i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p>
                          <m:r>
                            <a:rPr lang="en-IL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L" sz="2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L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L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L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L" sz="2400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IL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L" sz="2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fName>
                            <m:e>
                              <m:d>
                                <m:dPr>
                                  <m:sepChr m:val=","/>
                                  <m:ctrlPr>
                                    <a:rPr lang="en-IL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L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IL" sz="24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𝑚𝑎𝑟𝑔𝑖𝑛</m:t>
                                  </m:r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L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L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IL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L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L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L" sz="2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L" sz="2400">
                                          <a:latin typeface="Cambria Math" panose="02040503050406030204" pitchFamily="18" charset="0"/>
                                        </a:rPr>
                                        <m:t>​,</m:t>
                                      </m:r>
                                      <m:sSub>
                                        <m:sSubPr>
                                          <m:ctrlPr>
                                            <a:rPr lang="en-IL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L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L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L" sz="240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  <m:sup>
                          <m:r>
                            <a:rPr lang="en-IL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6BAAFD-F46E-EC38-99C2-A2B7044CE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17" y="3845123"/>
                <a:ext cx="9483365" cy="461665"/>
              </a:xfrm>
              <a:prstGeom prst="rect">
                <a:avLst/>
              </a:prstGeom>
              <a:blipFill>
                <a:blip r:embed="rId3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C9C3740-39CC-1BDA-7901-CA089B528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5" t="11550" r="64632" b="58763"/>
          <a:stretch>
            <a:fillRect/>
          </a:stretch>
        </p:blipFill>
        <p:spPr>
          <a:xfrm>
            <a:off x="829559" y="1471327"/>
            <a:ext cx="2790334" cy="19253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6A20A5-2041-9451-1551-8981B8C9A1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" r="2568" b="32746"/>
          <a:stretch>
            <a:fillRect/>
          </a:stretch>
        </p:blipFill>
        <p:spPr>
          <a:xfrm>
            <a:off x="5612090" y="1263947"/>
            <a:ext cx="5250731" cy="251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4341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94C6C-A4DB-A3F0-16EE-94BB1D21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5D21F-1AEA-890A-EA93-8BAC3AE9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032" y="792080"/>
            <a:ext cx="7373944" cy="606592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אתגר תמונות </a:t>
            </a:r>
            <a:r>
              <a:rPr lang="en-US" sz="2000" dirty="0"/>
              <a:t>WSI</a:t>
            </a:r>
            <a:r>
              <a:rPr lang="he-IL" sz="2000" dirty="0"/>
              <a:t> :</a:t>
            </a:r>
            <a:r>
              <a:rPr lang="en-US" sz="2000" dirty="0"/>
              <a:t> </a:t>
            </a:r>
            <a:r>
              <a:rPr lang="he-IL" sz="2000" dirty="0"/>
              <a:t>גודל התמונות</a:t>
            </a:r>
            <a:r>
              <a:rPr lang="en-US" sz="2000" dirty="0"/>
              <a:t> </a:t>
            </a:r>
            <a:r>
              <a:rPr lang="he-IL" sz="2000" dirty="0"/>
              <a:t>(</a:t>
            </a:r>
            <a:r>
              <a:rPr lang="en-US" sz="2000" dirty="0">
                <a:solidFill>
                  <a:prstClr val="black"/>
                </a:solidFill>
                <a:cs typeface="Arial" panose="020B0604020202020204" pitchFamily="34" charset="0"/>
              </a:rPr>
              <a:t>57768 x 23833 pixels</a:t>
            </a:r>
            <a:r>
              <a:rPr lang="he-IL" sz="2000" dirty="0">
                <a:solidFill>
                  <a:prstClr val="black"/>
                </a:solidFill>
              </a:rPr>
              <a:t> </a:t>
            </a:r>
            <a:r>
              <a:rPr lang="he-IL" sz="2000" dirty="0"/>
              <a:t>) מרכז הרבה מאוד מידע</a:t>
            </a: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he-IL" sz="2000" dirty="0">
              <a:solidFill>
                <a:prstClr val="black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9B0CD1-4B34-75FB-E6E9-644E044F75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Contrastive Learning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68C0C-CF24-2943-05D3-6E406C160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4" y="708301"/>
            <a:ext cx="3857996" cy="3004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6DF7B6-506E-A75D-2394-0F96D49AC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4" y="3783204"/>
            <a:ext cx="3857996" cy="300445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C0E9FE-4912-6682-A2A6-D272F2CD5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500826"/>
              </p:ext>
            </p:extLst>
          </p:nvPr>
        </p:nvGraphicFramePr>
        <p:xfrm>
          <a:off x="4155593" y="1662430"/>
          <a:ext cx="7829833" cy="1766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5793">
                  <a:extLst>
                    <a:ext uri="{9D8B030D-6E8A-4147-A177-3AD203B41FA5}">
                      <a16:colId xmlns:a16="http://schemas.microsoft.com/office/drawing/2014/main" val="1276660145"/>
                    </a:ext>
                  </a:extLst>
                </a:gridCol>
                <a:gridCol w="1565793">
                  <a:extLst>
                    <a:ext uri="{9D8B030D-6E8A-4147-A177-3AD203B41FA5}">
                      <a16:colId xmlns:a16="http://schemas.microsoft.com/office/drawing/2014/main" val="1909891183"/>
                    </a:ext>
                  </a:extLst>
                </a:gridCol>
                <a:gridCol w="1565793">
                  <a:extLst>
                    <a:ext uri="{9D8B030D-6E8A-4147-A177-3AD203B41FA5}">
                      <a16:colId xmlns:a16="http://schemas.microsoft.com/office/drawing/2014/main" val="3960509488"/>
                    </a:ext>
                  </a:extLst>
                </a:gridCol>
                <a:gridCol w="1565793">
                  <a:extLst>
                    <a:ext uri="{9D8B030D-6E8A-4147-A177-3AD203B41FA5}">
                      <a16:colId xmlns:a16="http://schemas.microsoft.com/office/drawing/2014/main" val="1479709740"/>
                    </a:ext>
                  </a:extLst>
                </a:gridCol>
                <a:gridCol w="1566661">
                  <a:extLst>
                    <a:ext uri="{9D8B030D-6E8A-4147-A177-3AD203B41FA5}">
                      <a16:colId xmlns:a16="http://schemas.microsoft.com/office/drawing/2014/main" val="2952364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Class + split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Intra Mean cosine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Inter Mean cosine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Intra mean Euclidean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Inter mean Euclidean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4285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Train class 0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0.0067 ± 0.0019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0.2854 ± 0.0412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0.1012 ± 0.0185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0.7521 ± 0.0843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1684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Train class 1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0.0042 ± 0.0014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0.0839 ± 0.0167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13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class 0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0.0994 ± 0.0316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0.0800 ± 0.0279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0.3604 ± 0.0718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0.3038 ± 0.0652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7410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class 1</a:t>
                      </a:r>
                      <a:endParaRPr lang="en-I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0.0140 ± 0.0061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0.1294 ± 0.0346</a:t>
                      </a:r>
                      <a:endParaRPr lang="en-I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88706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99CC76-DD12-C92D-450D-E4D825CA9779}"/>
              </a:ext>
            </a:extLst>
          </p:cNvPr>
          <p:cNvSpPr txBox="1">
            <a:spLocks/>
          </p:cNvSpPr>
          <p:nvPr/>
        </p:nvSpPr>
        <p:spPr>
          <a:xfrm>
            <a:off x="5536975" y="3520436"/>
            <a:ext cx="2877029" cy="525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en-US" dirty="0"/>
              <a:t>Bacc = </a:t>
            </a:r>
            <a:r>
              <a:rPr lang="en-IL" dirty="0"/>
              <a:t>0.6</a:t>
            </a:r>
            <a:r>
              <a:rPr lang="en-US" dirty="0"/>
              <a:t>6</a:t>
            </a:r>
            <a:endParaRPr lang="he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67CA65-0454-42E0-5DBF-052CEAA3B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16" y="4116418"/>
            <a:ext cx="7360627" cy="2425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F66579-0BF1-98F9-A6CF-E29E0F166B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258"/>
          <a:stretch>
            <a:fillRect/>
          </a:stretch>
        </p:blipFill>
        <p:spPr>
          <a:xfrm>
            <a:off x="8117287" y="4299350"/>
            <a:ext cx="3705345" cy="194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547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4E085-CB16-7833-6ACE-D4D809FC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8F59B3FF-3176-569E-378A-BD236672F88D}"/>
              </a:ext>
            </a:extLst>
          </p:cNvPr>
          <p:cNvSpPr/>
          <p:nvPr/>
        </p:nvSpPr>
        <p:spPr>
          <a:xfrm>
            <a:off x="2035767" y="3215814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2DCC8FC7-10C1-A1B2-54F5-633C66C3F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1236513"/>
            <a:ext cx="1657930" cy="1130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>
              <a:schemeClr val="accent1">
                <a:alpha val="46000"/>
              </a:schemeClr>
            </a:glow>
            <a:outerShdw blurRad="50800" dist="38100" dir="2700000" algn="tl" rotWithShape="0">
              <a:srgbClr val="000000">
                <a:alpha val="52000"/>
              </a:srgbClr>
            </a:outerShdw>
            <a:reflection stA="0" dist="1143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dna strand on a white background&#10;&#10;Description automatically generated">
            <a:extLst>
              <a:ext uri="{FF2B5EF4-FFF2-40B4-BE49-F238E27FC236}">
                <a16:creationId xmlns:a16="http://schemas.microsoft.com/office/drawing/2014/main" id="{C706CEFB-3582-F348-ED0D-945B539A1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637" y="4643442"/>
            <a:ext cx="1675239" cy="1162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8" descr="Free Medical Icon Set Vector 109622 Vector Art at Vecteezy">
            <a:extLst>
              <a:ext uri="{FF2B5EF4-FFF2-40B4-BE49-F238E27FC236}">
                <a16:creationId xmlns:a16="http://schemas.microsoft.com/office/drawing/2014/main" id="{05B12D79-877A-FC4F-15FB-7DC26769A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2924664"/>
            <a:ext cx="1675239" cy="1160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2B9826A-60ED-9EBD-040C-B97A7AB4954E}"/>
              </a:ext>
            </a:extLst>
          </p:cNvPr>
          <p:cNvCxnSpPr>
            <a:cxnSpLocks/>
          </p:cNvCxnSpPr>
          <p:nvPr/>
        </p:nvCxnSpPr>
        <p:spPr>
          <a:xfrm flipV="1">
            <a:off x="6795186" y="2675822"/>
            <a:ext cx="872822" cy="753177"/>
          </a:xfrm>
          <a:prstGeom prst="bentConnector3">
            <a:avLst>
              <a:gd name="adj1" fmla="val 37869"/>
            </a:avLst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C87CDFC-49A3-DD98-DB43-946D7B014971}"/>
              </a:ext>
            </a:extLst>
          </p:cNvPr>
          <p:cNvCxnSpPr>
            <a:cxnSpLocks/>
          </p:cNvCxnSpPr>
          <p:nvPr/>
        </p:nvCxnSpPr>
        <p:spPr>
          <a:xfrm>
            <a:off x="6720731" y="3428998"/>
            <a:ext cx="947980" cy="750924"/>
          </a:xfrm>
          <a:prstGeom prst="bentConnector3">
            <a:avLst>
              <a:gd name="adj1" fmla="val 42283"/>
            </a:avLst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EEAA7E8-CA4D-631B-5E3C-BE367F31C5A6}"/>
              </a:ext>
            </a:extLst>
          </p:cNvPr>
          <p:cNvSpPr/>
          <p:nvPr/>
        </p:nvSpPr>
        <p:spPr>
          <a:xfrm>
            <a:off x="7666843" y="2236669"/>
            <a:ext cx="165793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WSI Embedding optimization</a:t>
            </a:r>
            <a:endParaRPr lang="en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EF21C6-D8E1-B8B9-AEB5-F991E8798EC0}"/>
              </a:ext>
            </a:extLst>
          </p:cNvPr>
          <p:cNvSpPr/>
          <p:nvPr/>
        </p:nvSpPr>
        <p:spPr>
          <a:xfrm>
            <a:off x="2755797" y="2977246"/>
            <a:ext cx="1793424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exploration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1C872A6-27E5-6DA8-CFBC-F02BECEDA807}"/>
              </a:ext>
            </a:extLst>
          </p:cNvPr>
          <p:cNvSpPr/>
          <p:nvPr/>
        </p:nvSpPr>
        <p:spPr>
          <a:xfrm>
            <a:off x="4619570" y="3196881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3A00F8-F54D-295E-866A-329CD0C10A32}"/>
              </a:ext>
            </a:extLst>
          </p:cNvPr>
          <p:cNvSpPr/>
          <p:nvPr/>
        </p:nvSpPr>
        <p:spPr>
          <a:xfrm>
            <a:off x="5339600" y="2958564"/>
            <a:ext cx="142696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</a:t>
            </a:r>
            <a:endParaRPr lang="en-IL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1E830E-1925-A9FF-D4A7-089B022EF722}"/>
              </a:ext>
            </a:extLst>
          </p:cNvPr>
          <p:cNvSpPr/>
          <p:nvPr/>
        </p:nvSpPr>
        <p:spPr>
          <a:xfrm>
            <a:off x="7666843" y="3765136"/>
            <a:ext cx="165793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Fusion Multimodal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27973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2E862-A9BE-9BAB-0257-9EF0657D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45536CC-10A9-162D-37EF-4D163AC80E2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Multimodal Graph-Based Fusion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AF1A36-3393-1F57-E778-1D470F035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392" y="3108961"/>
            <a:ext cx="6647022" cy="3536130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צמתים : מטופל / תמונות </a:t>
            </a:r>
            <a:r>
              <a:rPr lang="en-US" sz="2000" dirty="0"/>
              <a:t>WSI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קשתות :קשרים בניהם – מאפשר למידה בים צמתים</a:t>
            </a:r>
          </a:p>
          <a:p>
            <a:pPr marL="0" indent="0" algn="r" rtl="1">
              <a:buNone/>
            </a:pPr>
            <a:r>
              <a:rPr lang="he-IL" sz="2000" dirty="0"/>
              <a:t>אך זה עובד ?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לכל מוצת יש מידע התחלתי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אגרגצית מידע בין הצמתים עם סוגי קשרים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עדכון צומת לפי פונקציה (מס פעמים כמספר שכבות </a:t>
            </a:r>
            <a:r>
              <a:rPr lang="en-US" sz="2000" dirty="0"/>
              <a:t>GNN</a:t>
            </a:r>
            <a:r>
              <a:rPr lang="he-IL" sz="2000" dirty="0"/>
              <a:t>)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מקבלים וקטור סופי אחרי למידה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הוקטור הזה עובד דרך </a:t>
            </a:r>
            <a:r>
              <a:rPr lang="en-US" sz="2000" dirty="0"/>
              <a:t>MLP</a:t>
            </a:r>
            <a:r>
              <a:rPr lang="he-IL" sz="2000" dirty="0"/>
              <a:t> ומקבלים פרדיקציה</a:t>
            </a: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CB9FE29A-4EAD-7C2A-0DFB-674648E8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943"/>
            <a:ext cx="2364969" cy="236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Neural, network, artificial, intelligence, networking, structure, deep ...">
            <a:extLst>
              <a:ext uri="{FF2B5EF4-FFF2-40B4-BE49-F238E27FC236}">
                <a16:creationId xmlns:a16="http://schemas.microsoft.com/office/drawing/2014/main" id="{4ADE6197-19FF-8A0E-EB57-B60BBECD2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03" y="729186"/>
            <a:ext cx="2088481" cy="208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trix Vitaliy Gorbachev Lineal icon">
            <a:extLst>
              <a:ext uri="{FF2B5EF4-FFF2-40B4-BE49-F238E27FC236}">
                <a16:creationId xmlns:a16="http://schemas.microsoft.com/office/drawing/2014/main" id="{698FEB7C-3DA0-ADB1-C292-608DDC350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3751" y="1094063"/>
            <a:ext cx="1047830" cy="135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93F0FC2E-0EF8-79E4-54B9-A10036D6F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964" y="926106"/>
            <a:ext cx="1738107" cy="169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Wave 14">
            <a:extLst>
              <a:ext uri="{FF2B5EF4-FFF2-40B4-BE49-F238E27FC236}">
                <a16:creationId xmlns:a16="http://schemas.microsoft.com/office/drawing/2014/main" id="{E64A678E-7AD6-457D-2F96-A632057A2782}"/>
              </a:ext>
            </a:extLst>
          </p:cNvPr>
          <p:cNvSpPr/>
          <p:nvPr/>
        </p:nvSpPr>
        <p:spPr>
          <a:xfrm>
            <a:off x="11112484" y="1468608"/>
            <a:ext cx="956930" cy="609621"/>
          </a:xfrm>
          <a:prstGeom prst="wav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1\0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27F5A6A-4D97-58D8-2E98-2B0012BE93A4}"/>
              </a:ext>
            </a:extLst>
          </p:cNvPr>
          <p:cNvSpPr/>
          <p:nvPr/>
        </p:nvSpPr>
        <p:spPr>
          <a:xfrm>
            <a:off x="2264384" y="1560237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31798AE-F4AE-8C1B-CECC-52C2CA941D49}"/>
              </a:ext>
            </a:extLst>
          </p:cNvPr>
          <p:cNvSpPr/>
          <p:nvPr/>
        </p:nvSpPr>
        <p:spPr>
          <a:xfrm>
            <a:off x="5311135" y="1560237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DB8B170-F139-5867-5BAA-4DBEE406FE1E}"/>
              </a:ext>
            </a:extLst>
          </p:cNvPr>
          <p:cNvSpPr/>
          <p:nvPr/>
        </p:nvSpPr>
        <p:spPr>
          <a:xfrm>
            <a:off x="7553932" y="1560236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1FC99AE-46B8-1A6C-EC53-D717BB7EC99A}"/>
              </a:ext>
            </a:extLst>
          </p:cNvPr>
          <p:cNvSpPr/>
          <p:nvPr/>
        </p:nvSpPr>
        <p:spPr>
          <a:xfrm>
            <a:off x="10343920" y="1560235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C98440B-4187-16A9-5D7B-79F5059B32D6}"/>
              </a:ext>
            </a:extLst>
          </p:cNvPr>
          <p:cNvSpPr txBox="1">
            <a:spLocks/>
          </p:cNvSpPr>
          <p:nvPr/>
        </p:nvSpPr>
        <p:spPr>
          <a:xfrm>
            <a:off x="134263" y="3429000"/>
            <a:ext cx="5176872" cy="24662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r" rtl="1">
              <a:buFont typeface="Arial" panose="020B0604020202020204" pitchFamily="34" charset="0"/>
              <a:buAutoNum type="arabicPeriod"/>
            </a:pPr>
            <a:r>
              <a:rPr lang="he-IL" sz="2000" dirty="0"/>
              <a:t>מידע רפואי הוא מידע רלציוני במיוחד</a:t>
            </a:r>
          </a:p>
          <a:p>
            <a:pPr marL="457200" indent="-457200" algn="r" rtl="1">
              <a:buFont typeface="Arial" panose="020B0604020202020204" pitchFamily="34" charset="0"/>
              <a:buAutoNum type="arabicPeriod"/>
            </a:pPr>
            <a:r>
              <a:rPr lang="he-IL" sz="2000" dirty="0"/>
              <a:t>מאפשר שילוב ואגרגציה של מידע ממספר מודליות </a:t>
            </a:r>
          </a:p>
          <a:p>
            <a:pPr marL="457200" indent="-457200" algn="r" rtl="1">
              <a:buFont typeface="Arial" panose="020B0604020202020204" pitchFamily="34" charset="0"/>
              <a:buAutoNum type="arabicPeriod"/>
            </a:pPr>
            <a:r>
              <a:rPr lang="he-IL" sz="2000" dirty="0"/>
              <a:t>מאפשר אינטראקציות מורכבות בין סוגי נתונים שונים </a:t>
            </a:r>
          </a:p>
          <a:p>
            <a:pPr marL="457200" indent="-457200" algn="r" rtl="1">
              <a:buFont typeface="Arial" panose="020B0604020202020204" pitchFamily="34" charset="0"/>
              <a:buAutoNum type="arabicPeriod"/>
            </a:pPr>
            <a:r>
              <a:rPr lang="he-IL" sz="2000" dirty="0"/>
              <a:t>מאפשר זרימת מידע רב כיוונית</a:t>
            </a:r>
          </a:p>
          <a:p>
            <a:pPr marL="457200" indent="-457200" algn="r" rtl="1">
              <a:buFont typeface="Arial" panose="020B0604020202020204" pitchFamily="34" charset="0"/>
              <a:buAutoNum type="arabicPeriod"/>
            </a:pPr>
            <a:r>
              <a:rPr lang="he-IL" sz="2000" dirty="0"/>
              <a:t>מאפשר יצירת קשרים בין מטופלים</a:t>
            </a:r>
          </a:p>
        </p:txBody>
      </p:sp>
    </p:spTree>
    <p:extLst>
      <p:ext uri="{BB962C8B-B14F-4D97-AF65-F5344CB8AC3E}">
        <p14:creationId xmlns:p14="http://schemas.microsoft.com/office/powerpoint/2010/main" val="34813273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15" grpId="0" animBg="1"/>
      <p:bldP spid="16" grpId="0" uiExpand="1" animBg="1"/>
      <p:bldP spid="17" grpId="0" uiExpand="1" animBg="1"/>
      <p:bldP spid="18" grpId="0" animBg="1"/>
      <p:bldP spid="22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49961-7347-959A-FECA-F64BEB27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EB6A0A-AB63-0790-423E-FCCCC3B4203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GraphSAGE Network (SAGEConv)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8CAE6DF-8B79-E84F-1D94-BA58F94C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154" y="1082861"/>
            <a:ext cx="8667846" cy="530092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צמתים : מטופל או תמונות </a:t>
            </a:r>
            <a:r>
              <a:rPr lang="en-US" sz="2000" dirty="0"/>
              <a:t>WSI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קשתות : קשרים בניהם – תמונה למטופל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השלכות של שתי המודלים לתוך אותו מרחב נסתר בעל ממד זהה </a:t>
            </a:r>
          </a:p>
          <a:p>
            <a:pPr marL="457200" indent="-457200" algn="r" rtl="1">
              <a:buAutoNum type="arabicPeriod"/>
            </a:pPr>
            <a:r>
              <a:rPr lang="en-US" sz="2000" dirty="0"/>
              <a:t> SAGEConv </a:t>
            </a:r>
            <a:r>
              <a:rPr lang="he-IL" sz="2000" dirty="0"/>
              <a:t>מבצע אגרגציה של התמונות </a:t>
            </a:r>
            <a:r>
              <a:rPr lang="en-US" sz="2000" dirty="0"/>
              <a:t>mean</a:t>
            </a:r>
            <a:r>
              <a:rPr lang="he-IL" sz="2000" dirty="0"/>
              <a:t>.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פעולה זו מייצרת ייצוג חדש של המטופל</a:t>
            </a:r>
            <a:r>
              <a:rPr lang="en-US" sz="2000" dirty="0"/>
              <a:t> </a:t>
            </a:r>
            <a:r>
              <a:rPr lang="he-IL" sz="2000" dirty="0"/>
              <a:t> 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en-US" sz="2000" dirty="0"/>
              <a:t>residual connection</a:t>
            </a:r>
            <a:endParaRPr lang="he-IL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ראש </a:t>
            </a:r>
            <a:r>
              <a:rPr lang="en-US" sz="2000" dirty="0"/>
              <a:t>MLP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לוגים סופיים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2 שכבות של </a:t>
            </a:r>
            <a:r>
              <a:rPr lang="en-US" sz="2000" dirty="0"/>
              <a:t>GNN</a:t>
            </a:r>
            <a:r>
              <a:rPr lang="he-IL" sz="2000" dirty="0"/>
              <a:t> :</a:t>
            </a:r>
          </a:p>
          <a:p>
            <a:pPr marL="0" indent="0" algn="r" rtl="1">
              <a:buNone/>
            </a:pPr>
            <a:r>
              <a:rPr lang="he-IL" sz="2000" dirty="0"/>
              <a:t>שכבה 1 - שילוב ראשון תמונה / מטופל</a:t>
            </a:r>
          </a:p>
          <a:p>
            <a:pPr marL="0" indent="0" algn="r" rtl="1">
              <a:buNone/>
            </a:pPr>
            <a:r>
              <a:rPr lang="he-IL" sz="2000" dirty="0"/>
              <a:t>שכבה 2 - חידוד של השילוב הזה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E32F74-41F7-5A05-B413-75FFAF976991}"/>
              </a:ext>
            </a:extLst>
          </p:cNvPr>
          <p:cNvGrpSpPr/>
          <p:nvPr/>
        </p:nvGrpSpPr>
        <p:grpSpPr>
          <a:xfrm>
            <a:off x="140302" y="1384566"/>
            <a:ext cx="4773168" cy="3191256"/>
            <a:chOff x="0" y="708301"/>
            <a:chExt cx="4773168" cy="319125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93E3497-916B-2876-7944-6835209FE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1" t="10236" r="11516" b="7648"/>
            <a:stretch>
              <a:fillRect/>
            </a:stretch>
          </p:blipFill>
          <p:spPr>
            <a:xfrm>
              <a:off x="0" y="708301"/>
              <a:ext cx="4773168" cy="319125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809EDDF-3BFB-5DCE-7979-1BC2E0FEBD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7520" y="1140619"/>
              <a:ext cx="823436" cy="5053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9CBA35-8CBA-CFBB-5A08-BDF5DCC07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9483" y="2856832"/>
              <a:ext cx="658368" cy="4004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637C31-3F6E-56CD-D116-AEF0C8FBE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5163" y="2874169"/>
              <a:ext cx="657225" cy="4000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3BEF277-4309-1BD8-B099-0506956C382F}"/>
                </a:ext>
              </a:extLst>
            </p:cNvPr>
            <p:cNvCxnSpPr>
              <a:cxnSpLocks/>
            </p:cNvCxnSpPr>
            <p:nvPr/>
          </p:nvCxnSpPr>
          <p:spPr>
            <a:xfrm>
              <a:off x="1216819" y="1140619"/>
              <a:ext cx="819721" cy="5053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2349656-E958-03BF-8971-B4C5EAFDFED0}"/>
                </a:ext>
              </a:extLst>
            </p:cNvPr>
            <p:cNvSpPr/>
            <p:nvPr/>
          </p:nvSpPr>
          <p:spPr>
            <a:xfrm>
              <a:off x="406621" y="805587"/>
              <a:ext cx="760191" cy="4874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6FFDC99-BBB6-EA13-B026-FD30C8F9C28F}"/>
                </a:ext>
              </a:extLst>
            </p:cNvPr>
            <p:cNvSpPr/>
            <p:nvPr/>
          </p:nvSpPr>
          <p:spPr>
            <a:xfrm>
              <a:off x="3891247" y="814399"/>
              <a:ext cx="760191" cy="4786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3F45430-1131-BAE7-309F-DBD3C363B653}"/>
                </a:ext>
              </a:extLst>
            </p:cNvPr>
            <p:cNvSpPr/>
            <p:nvPr/>
          </p:nvSpPr>
          <p:spPr>
            <a:xfrm>
              <a:off x="3891247" y="3074194"/>
              <a:ext cx="760191" cy="4738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32FAD7-06AB-D007-6E39-BE9CA52EFF83}"/>
                </a:ext>
              </a:extLst>
            </p:cNvPr>
            <p:cNvSpPr/>
            <p:nvPr/>
          </p:nvSpPr>
          <p:spPr>
            <a:xfrm>
              <a:off x="406621" y="3083653"/>
              <a:ext cx="760191" cy="4738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454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7D390-1905-8AA6-6CE5-6844C94A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1EC75F-E55C-44CE-6792-6E7BA3600C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GraphSAGE Network (SAGEConv)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F6AA59-DD1E-7876-178D-4ECD70E5C77D}"/>
              </a:ext>
            </a:extLst>
          </p:cNvPr>
          <p:cNvGrpSpPr/>
          <p:nvPr/>
        </p:nvGrpSpPr>
        <p:grpSpPr>
          <a:xfrm>
            <a:off x="362921" y="3686175"/>
            <a:ext cx="8786186" cy="2914651"/>
            <a:chOff x="362921" y="3686175"/>
            <a:chExt cx="8786186" cy="29146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FE32859-F72D-E674-46C0-9C4388418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57750" y="3686176"/>
              <a:ext cx="4291357" cy="29146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FE15712-C17A-505B-3662-DD6E0E681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921" y="3686175"/>
              <a:ext cx="4291357" cy="291465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96D2A55-C169-6C63-2E0D-C5765CB24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217" y="1040050"/>
            <a:ext cx="5149211" cy="213177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F73971D-AE96-39C1-B6C5-5CB28140BFAB}"/>
              </a:ext>
            </a:extLst>
          </p:cNvPr>
          <p:cNvSpPr txBox="1">
            <a:spLocks/>
          </p:cNvSpPr>
          <p:nvPr/>
        </p:nvSpPr>
        <p:spPr>
          <a:xfrm>
            <a:off x="7839075" y="2105937"/>
            <a:ext cx="3917347" cy="54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anose="020B0604020202020204" pitchFamily="34" charset="0"/>
              <a:buNone/>
            </a:pPr>
            <a:r>
              <a:rPr lang="en-US" dirty="0"/>
              <a:t>BACC : 0.80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446358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71796-833D-1813-5877-05C402A7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53A0B6-235E-3C87-3859-4E6E62C4256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Graph Attention Network (GAT)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48640C-96F6-9959-4972-DC20EDC15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852" y="1384566"/>
            <a:ext cx="8667846" cy="530092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צמתים : מטופל או תמונות </a:t>
            </a:r>
            <a:r>
              <a:rPr lang="en-US" sz="2000" dirty="0"/>
              <a:t>WSI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קשתות : קשרים בניהם – תמונה למטופל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השלכות של שתי המודלים לתוך אותו מרחב נסתר בעל ממד זהה </a:t>
            </a:r>
          </a:p>
          <a:p>
            <a:pPr marL="457200" indent="-457200" algn="r" rtl="1">
              <a:buAutoNum type="arabicPeriod"/>
            </a:pPr>
            <a:r>
              <a:rPr lang="en-US" sz="2000" dirty="0"/>
              <a:t> GATConv</a:t>
            </a:r>
            <a:r>
              <a:rPr lang="he-IL" sz="2000" dirty="0"/>
              <a:t>מחשבת משקל </a:t>
            </a:r>
            <a:r>
              <a:rPr lang="en-US" sz="2000" dirty="0"/>
              <a:t>attention</a:t>
            </a:r>
            <a:r>
              <a:rPr lang="he-IL" sz="2000" dirty="0"/>
              <a:t> עבור כל תמונה.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שלבו את המסרים תוך התחשבות במשקלים 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פעולה זו מייצרת ייצוג חדש של המטופל</a:t>
            </a:r>
            <a:r>
              <a:rPr lang="en-US" sz="2000" dirty="0"/>
              <a:t> </a:t>
            </a:r>
            <a:r>
              <a:rPr lang="he-IL" sz="2000" dirty="0"/>
              <a:t> 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en-US" sz="2000" dirty="0"/>
              <a:t>residual connection</a:t>
            </a:r>
            <a:endParaRPr lang="he-IL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ראש </a:t>
            </a:r>
            <a:r>
              <a:rPr lang="en-US" sz="2000" dirty="0"/>
              <a:t>MLP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לוגים סופיים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רק שכבה אחת של </a:t>
            </a:r>
            <a:r>
              <a:rPr lang="en-US" sz="2000" dirty="0"/>
              <a:t>GNN</a:t>
            </a:r>
            <a:r>
              <a:rPr lang="he-IL" sz="2000" dirty="0"/>
              <a:t>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23A95C-2432-5276-0A7D-F6C56C7AF394}"/>
              </a:ext>
            </a:extLst>
          </p:cNvPr>
          <p:cNvGrpSpPr/>
          <p:nvPr/>
        </p:nvGrpSpPr>
        <p:grpSpPr>
          <a:xfrm>
            <a:off x="140302" y="1317891"/>
            <a:ext cx="4773168" cy="3191256"/>
            <a:chOff x="0" y="708301"/>
            <a:chExt cx="4773168" cy="319125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744DD4-7FBC-03DD-B135-3E73C56E7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1" t="10236" r="11516" b="7648"/>
            <a:stretch>
              <a:fillRect/>
            </a:stretch>
          </p:blipFill>
          <p:spPr>
            <a:xfrm>
              <a:off x="0" y="708301"/>
              <a:ext cx="4773168" cy="319125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01C825-28AA-DC46-D0C3-CB13D344F5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7520" y="1140619"/>
              <a:ext cx="823436" cy="5053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7B05D55-0656-CBB2-D455-CD2514AEE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9483" y="2856832"/>
              <a:ext cx="658368" cy="4004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1C83CE0-7769-30FC-5B6B-87DF7D112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5163" y="2874169"/>
              <a:ext cx="657225" cy="4000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21B0400-07F2-AC0F-408D-69B63907A7AE}"/>
                </a:ext>
              </a:extLst>
            </p:cNvPr>
            <p:cNvCxnSpPr>
              <a:cxnSpLocks/>
            </p:cNvCxnSpPr>
            <p:nvPr/>
          </p:nvCxnSpPr>
          <p:spPr>
            <a:xfrm>
              <a:off x="1216819" y="1140619"/>
              <a:ext cx="819721" cy="5053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0BFD07F-E3CD-8A99-9242-16D0B97D9A42}"/>
                </a:ext>
              </a:extLst>
            </p:cNvPr>
            <p:cNvSpPr/>
            <p:nvPr/>
          </p:nvSpPr>
          <p:spPr>
            <a:xfrm>
              <a:off x="1502664" y="1021747"/>
              <a:ext cx="558260" cy="237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>
                  <a:solidFill>
                    <a:schemeClr val="tx1"/>
                  </a:solidFill>
                </a:rPr>
                <a:t>0.6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6AD3CF2-FA1B-FD40-C7F4-DCB0268869F6}"/>
                </a:ext>
              </a:extLst>
            </p:cNvPr>
            <p:cNvSpPr/>
            <p:nvPr/>
          </p:nvSpPr>
          <p:spPr>
            <a:xfrm>
              <a:off x="2858786" y="1021747"/>
              <a:ext cx="558260" cy="237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>
                  <a:solidFill>
                    <a:schemeClr val="tx1"/>
                  </a:solidFill>
                </a:rPr>
                <a:t>0.1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1FA8C02-9A28-D8D9-8B17-E74AA81A4948}"/>
                </a:ext>
              </a:extLst>
            </p:cNvPr>
            <p:cNvSpPr/>
            <p:nvPr/>
          </p:nvSpPr>
          <p:spPr>
            <a:xfrm>
              <a:off x="1068419" y="2619088"/>
              <a:ext cx="558260" cy="237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>
                  <a:solidFill>
                    <a:schemeClr val="tx1"/>
                  </a:solidFill>
                </a:rPr>
                <a:t>0.3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14840A8-6ADA-9574-5F2A-4973AF69B308}"/>
                </a:ext>
              </a:extLst>
            </p:cNvPr>
            <p:cNvSpPr/>
            <p:nvPr/>
          </p:nvSpPr>
          <p:spPr>
            <a:xfrm>
              <a:off x="3485626" y="2712959"/>
              <a:ext cx="558260" cy="237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>
                  <a:solidFill>
                    <a:schemeClr val="tx1"/>
                  </a:solidFill>
                </a:rPr>
                <a:t>0.2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26A161-A0AE-3727-035E-330531B9A7EE}"/>
                </a:ext>
              </a:extLst>
            </p:cNvPr>
            <p:cNvSpPr/>
            <p:nvPr/>
          </p:nvSpPr>
          <p:spPr>
            <a:xfrm>
              <a:off x="406621" y="805587"/>
              <a:ext cx="760191" cy="4874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7BC180B-B5CE-1F94-19DE-B5B04620A58C}"/>
                </a:ext>
              </a:extLst>
            </p:cNvPr>
            <p:cNvSpPr/>
            <p:nvPr/>
          </p:nvSpPr>
          <p:spPr>
            <a:xfrm>
              <a:off x="3891247" y="814399"/>
              <a:ext cx="760191" cy="4786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EDF565A-C3B4-34FE-5820-20D0EB4C4488}"/>
                </a:ext>
              </a:extLst>
            </p:cNvPr>
            <p:cNvSpPr/>
            <p:nvPr/>
          </p:nvSpPr>
          <p:spPr>
            <a:xfrm>
              <a:off x="3891247" y="3074194"/>
              <a:ext cx="760191" cy="4738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553E06E-5E1E-A45B-D31D-E66A6A7E8162}"/>
                </a:ext>
              </a:extLst>
            </p:cNvPr>
            <p:cNvSpPr/>
            <p:nvPr/>
          </p:nvSpPr>
          <p:spPr>
            <a:xfrm>
              <a:off x="406621" y="3083653"/>
              <a:ext cx="760191" cy="4738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5354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FBAE2-6439-4EC5-EF8B-B4B1F0F1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F058BA0-0E56-3B40-A054-C255F42AF3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Graph Attention Network (GAT)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8E596C7-F2B5-EF5F-4339-FF8B21876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75" y="1992749"/>
            <a:ext cx="3917347" cy="540902"/>
          </a:xfrm>
        </p:spPr>
        <p:txBody>
          <a:bodyPr>
            <a:normAutofit/>
          </a:bodyPr>
          <a:lstStyle/>
          <a:p>
            <a:pPr marL="0" indent="0" algn="ctr" rtl="1">
              <a:buNone/>
            </a:pPr>
            <a:r>
              <a:rPr lang="en-US" dirty="0"/>
              <a:t>BACC : 0.7260</a:t>
            </a:r>
            <a:endParaRPr lang="he-IL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2A3678-8E43-A05D-C3D9-FDBAFE183D2C}"/>
              </a:ext>
            </a:extLst>
          </p:cNvPr>
          <p:cNvGrpSpPr/>
          <p:nvPr/>
        </p:nvGrpSpPr>
        <p:grpSpPr>
          <a:xfrm>
            <a:off x="140303" y="3762375"/>
            <a:ext cx="8175021" cy="2915973"/>
            <a:chOff x="140303" y="3733799"/>
            <a:chExt cx="8846535" cy="29445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098684-B717-F2B0-F1C8-3A5C0BC31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303" y="3733800"/>
              <a:ext cx="4329113" cy="294454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A83055-D58A-E566-1DD5-6CFB8393F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7725" y="3733799"/>
              <a:ext cx="4329113" cy="2944549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0A519D1-7C70-4286-4175-677397330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815" y="1264798"/>
            <a:ext cx="4951121" cy="216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673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61A3A-DC33-A11B-1982-1F76D421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048DB79-E632-4D13-096A-334E0569C5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Graph Attention Network (RGCN)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27A0586-0513-F506-3FED-16090E90A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852" y="1384566"/>
            <a:ext cx="8667846" cy="530092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צמתים : מטופל או תמונות </a:t>
            </a:r>
            <a:r>
              <a:rPr lang="en-US" sz="2000" dirty="0"/>
              <a:t>WSI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קשתות : 3 קשרים –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תמונה למטופל</a:t>
            </a:r>
            <a:r>
              <a:rPr lang="en-US" sz="2000" dirty="0"/>
              <a:t> </a:t>
            </a:r>
            <a:r>
              <a:rPr lang="he-IL" sz="2000" dirty="0"/>
              <a:t> :  התמונה שולחת מידע למטופל.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מטופל לתמונה : המטופל גם שולח מידע לתמונות שלו.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מטופל למטופל : שיתוף מידע בין מטופלים זהים </a:t>
            </a:r>
            <a:endParaRPr lang="en-US" sz="2000" dirty="0"/>
          </a:p>
          <a:p>
            <a:pPr marL="0" indent="0" algn="r" rtl="1">
              <a:buNone/>
            </a:pPr>
            <a:endParaRPr lang="he-IL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בניית קשתות מטופל-מטופל על ידי </a:t>
            </a:r>
            <a:r>
              <a:rPr lang="en-US" sz="2000" dirty="0" err="1"/>
              <a:t>kNN</a:t>
            </a:r>
            <a:endParaRPr lang="he-IL" sz="2000" dirty="0"/>
          </a:p>
          <a:p>
            <a:pPr marL="457200" indent="-457200" algn="r" rtl="1">
              <a:buFont typeface="Arial" panose="020B0604020202020204" pitchFamily="34" charset="0"/>
              <a:buAutoNum type="arabicPeriod"/>
            </a:pPr>
            <a:r>
              <a:rPr lang="he-IL" sz="2000" dirty="0"/>
              <a:t>השלכות של שתי המודלים לתוך אותו מרחב נסתר בעל ממד זהה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שלבו את המסרים 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פעולה זו מייצרת ייצוג חדש של המטופל</a:t>
            </a:r>
            <a:r>
              <a:rPr lang="en-US" sz="2000" dirty="0"/>
              <a:t> </a:t>
            </a:r>
            <a:r>
              <a:rPr lang="he-IL" sz="2000" dirty="0"/>
              <a:t> 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ראש </a:t>
            </a:r>
            <a:r>
              <a:rPr lang="en-US" sz="2000" dirty="0"/>
              <a:t>MLP</a:t>
            </a:r>
          </a:p>
          <a:p>
            <a:pPr marL="457200" indent="-457200" algn="r" rtl="1">
              <a:buAutoNum type="arabicPeriod"/>
            </a:pPr>
            <a:r>
              <a:rPr lang="he-IL" sz="2000" dirty="0"/>
              <a:t>לוגים סופיים</a:t>
            </a:r>
            <a:endParaRPr lang="en-US" sz="2000" dirty="0"/>
          </a:p>
          <a:p>
            <a:pPr marL="457200" indent="-457200" algn="r" rtl="1">
              <a:buAutoNum type="arabicPeriod"/>
            </a:pPr>
            <a:r>
              <a:rPr lang="he-IL" sz="2000" dirty="0"/>
              <a:t>2 שכבות של </a:t>
            </a:r>
            <a:r>
              <a:rPr lang="en-US" sz="2000" dirty="0"/>
              <a:t>GNN</a:t>
            </a:r>
            <a:r>
              <a:rPr lang="he-IL" sz="2000" dirty="0"/>
              <a:t>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F30DF9-04AF-F7E7-7E06-432E405384E3}"/>
              </a:ext>
            </a:extLst>
          </p:cNvPr>
          <p:cNvGrpSpPr/>
          <p:nvPr/>
        </p:nvGrpSpPr>
        <p:grpSpPr>
          <a:xfrm>
            <a:off x="85725" y="1019174"/>
            <a:ext cx="5829300" cy="3337201"/>
            <a:chOff x="85725" y="1019174"/>
            <a:chExt cx="5829300" cy="333720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3F255CF-5CED-A707-3B46-2EC23653A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127"/>
            <a:stretch>
              <a:fillRect/>
            </a:stretch>
          </p:blipFill>
          <p:spPr>
            <a:xfrm>
              <a:off x="85725" y="1019174"/>
              <a:ext cx="5829300" cy="3337201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7F371AC-EA81-F104-1146-469FA924C8F9}"/>
                </a:ext>
              </a:extLst>
            </p:cNvPr>
            <p:cNvCxnSpPr>
              <a:cxnSpLocks/>
            </p:cNvCxnSpPr>
            <p:nvPr/>
          </p:nvCxnSpPr>
          <p:spPr>
            <a:xfrm>
              <a:off x="1607344" y="1476375"/>
              <a:ext cx="745332" cy="5143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3623589-5645-21EE-9FFA-7BB4ABB754B6}"/>
                </a:ext>
              </a:extLst>
            </p:cNvPr>
            <p:cNvCxnSpPr>
              <a:cxnSpLocks/>
            </p:cNvCxnSpPr>
            <p:nvPr/>
          </p:nvCxnSpPr>
          <p:spPr>
            <a:xfrm>
              <a:off x="1188244" y="2355056"/>
              <a:ext cx="990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C508DB5-E2F0-C1F2-57CD-3D722A7AB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7344" y="2722551"/>
              <a:ext cx="676275" cy="4327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75618E4-0C5B-3F8A-8E58-81E5059AD0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1525" y="1514475"/>
              <a:ext cx="739775" cy="428625"/>
            </a:xfrm>
            <a:prstGeom prst="straightConnector1">
              <a:avLst/>
            </a:prstGeom>
            <a:ln w="38100">
              <a:solidFill>
                <a:srgbClr val="00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EE79741-19A7-B93A-5AC3-5A8FADA36A71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07" y="2371725"/>
              <a:ext cx="1026318" cy="0"/>
            </a:xfrm>
            <a:prstGeom prst="straightConnector1">
              <a:avLst/>
            </a:prstGeom>
            <a:ln w="38100">
              <a:solidFill>
                <a:srgbClr val="00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B3F1EF1-3C2C-DD6C-94D9-3FBCFA35494F}"/>
                </a:ext>
              </a:extLst>
            </p:cNvPr>
            <p:cNvCxnSpPr>
              <a:cxnSpLocks/>
            </p:cNvCxnSpPr>
            <p:nvPr/>
          </p:nvCxnSpPr>
          <p:spPr>
            <a:xfrm>
              <a:off x="3383852" y="2737118"/>
              <a:ext cx="667448" cy="396607"/>
            </a:xfrm>
            <a:prstGeom prst="straightConnector1">
              <a:avLst/>
            </a:prstGeom>
            <a:ln w="38100">
              <a:solidFill>
                <a:srgbClr val="00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62E9E26-4D2D-C649-5F08-DEE62ECBF717}"/>
                </a:ext>
              </a:extLst>
            </p:cNvPr>
            <p:cNvSpPr/>
            <p:nvPr/>
          </p:nvSpPr>
          <p:spPr>
            <a:xfrm>
              <a:off x="923925" y="1200150"/>
              <a:ext cx="652464" cy="419092"/>
            </a:xfrm>
            <a:prstGeom prst="roundRect">
              <a:avLst>
                <a:gd name="adj" fmla="val 871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4BFCCD5-FF8F-BCD7-5702-782364BD0F7F}"/>
                </a:ext>
              </a:extLst>
            </p:cNvPr>
            <p:cNvSpPr/>
            <p:nvPr/>
          </p:nvSpPr>
          <p:spPr>
            <a:xfrm>
              <a:off x="509142" y="2078831"/>
              <a:ext cx="652464" cy="419092"/>
            </a:xfrm>
            <a:prstGeom prst="roundRect">
              <a:avLst>
                <a:gd name="adj" fmla="val 871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1DB41F3-26FE-52B9-8016-6E775DB39AED}"/>
                </a:ext>
              </a:extLst>
            </p:cNvPr>
            <p:cNvSpPr/>
            <p:nvPr/>
          </p:nvSpPr>
          <p:spPr>
            <a:xfrm>
              <a:off x="926306" y="2895739"/>
              <a:ext cx="652464" cy="419092"/>
            </a:xfrm>
            <a:prstGeom prst="roundRect">
              <a:avLst>
                <a:gd name="adj" fmla="val 871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AB4330C-AED8-1A19-4D2F-A92C63B4BDB4}"/>
                </a:ext>
              </a:extLst>
            </p:cNvPr>
            <p:cNvSpPr/>
            <p:nvPr/>
          </p:nvSpPr>
          <p:spPr>
            <a:xfrm>
              <a:off x="4551361" y="2066924"/>
              <a:ext cx="652464" cy="407185"/>
            </a:xfrm>
            <a:prstGeom prst="roundRect">
              <a:avLst>
                <a:gd name="adj" fmla="val 871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8374034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87982-420C-07C8-DE3E-50858B25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B62A3D-AD4C-54DE-311B-D4B8A5D1121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Graph Attention Network (RGCN)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AC4498F-D5BE-214E-BD6B-1F6C7BA72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75" y="1992749"/>
            <a:ext cx="3917347" cy="540902"/>
          </a:xfrm>
        </p:spPr>
        <p:txBody>
          <a:bodyPr>
            <a:normAutofit/>
          </a:bodyPr>
          <a:lstStyle/>
          <a:p>
            <a:pPr marL="0" indent="0" algn="ctr" rtl="1">
              <a:buNone/>
            </a:pPr>
            <a:r>
              <a:rPr lang="en-US" dirty="0"/>
              <a:t>BACC : </a:t>
            </a:r>
            <a:r>
              <a:rPr lang="en-IL" dirty="0"/>
              <a:t>0.7428</a:t>
            </a:r>
            <a:endParaRPr lang="he-IL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AE6668-4BFB-077E-D445-E80FBC2EB67A}"/>
              </a:ext>
            </a:extLst>
          </p:cNvPr>
          <p:cNvGrpSpPr/>
          <p:nvPr/>
        </p:nvGrpSpPr>
        <p:grpSpPr>
          <a:xfrm>
            <a:off x="442913" y="3667125"/>
            <a:ext cx="9472612" cy="3072825"/>
            <a:chOff x="442913" y="3720524"/>
            <a:chExt cx="9365121" cy="30194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B38A976-3A00-98A0-62E4-5E514DCDF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913" y="3720525"/>
              <a:ext cx="4529138" cy="301942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EA207D-C50A-A632-F82D-E83D56B54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6716" y="3720524"/>
              <a:ext cx="4471318" cy="301942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F539C41-B767-B808-F232-77D681C11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132" y="1183652"/>
            <a:ext cx="4779808" cy="186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520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D48E2-50A6-9CC8-FA98-1460103F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E528A8-8075-AC31-2542-F0CFC178E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12872"/>
              </p:ext>
            </p:extLst>
          </p:nvPr>
        </p:nvGraphicFramePr>
        <p:xfrm>
          <a:off x="0" y="118339"/>
          <a:ext cx="11996928" cy="6739661"/>
        </p:xfrm>
        <a:graphic>
          <a:graphicData uri="http://schemas.openxmlformats.org/drawingml/2006/table">
            <a:tbl>
              <a:tblPr/>
              <a:tblGrid>
                <a:gridCol w="2999232">
                  <a:extLst>
                    <a:ext uri="{9D8B030D-6E8A-4147-A177-3AD203B41FA5}">
                      <a16:colId xmlns:a16="http://schemas.microsoft.com/office/drawing/2014/main" val="1058352687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1293372815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48537227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489750308"/>
                    </a:ext>
                  </a:extLst>
                </a:gridCol>
              </a:tblGrid>
              <a:tr h="310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Aspect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GAT (Attention)</a:t>
                      </a:r>
                      <a:endParaRPr lang="en-US" sz="1600" dirty="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GraphSAGE (Mean)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RGCN (Relational)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77617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Type de modèle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GNN avec attention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GNN avec agrégation fixe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GNN relationnel multi-types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66600"/>
                  </a:ext>
                </a:extLst>
              </a:tr>
              <a:tr h="57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Structure du </a:t>
                      </a:r>
                      <a:r>
                        <a:rPr lang="en-US" sz="1600" b="1" dirty="0" err="1"/>
                        <a:t>graphe</a:t>
                      </a:r>
                      <a:endParaRPr lang="en-US" sz="1600" dirty="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→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→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↔ patient + patient ↔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71304"/>
                  </a:ext>
                </a:extLst>
              </a:tr>
              <a:tr h="310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Types de noeuds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+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+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+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571282"/>
                  </a:ext>
                </a:extLst>
              </a:tr>
              <a:tr h="310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Types de relations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 relation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 relation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 relations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412323"/>
                  </a:ext>
                </a:extLst>
              </a:tr>
              <a:tr h="57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Propagation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images →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images → patient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/>
                        <a:t>multi-directionnelle</a:t>
                      </a:r>
                      <a:r>
                        <a:rPr lang="fr-FR" sz="1600" dirty="0"/>
                        <a:t> (image ↔ patient + patient ↔ patient)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564253"/>
                  </a:ext>
                </a:extLst>
              </a:tr>
              <a:tr h="57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Mécanisme d’agrégation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⚡ Attention apprise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📊 </a:t>
                      </a:r>
                      <a:r>
                        <a:rPr lang="en-US" sz="1600"/>
                        <a:t>Mean pooling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🔁 Transformation par type de relation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40356"/>
                  </a:ext>
                </a:extLst>
              </a:tr>
              <a:tr h="310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Importance des images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✅ </a:t>
                      </a:r>
                      <a:r>
                        <a:rPr lang="en-US" sz="1600"/>
                        <a:t>Apprise (pondérée)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❌ </a:t>
                      </a:r>
                      <a:r>
                        <a:rPr lang="en-US" sz="1600"/>
                        <a:t>Égale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❌ </a:t>
                      </a:r>
                      <a:r>
                        <a:rPr lang="en-US" sz="1600"/>
                        <a:t>Égale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787161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Interaction patient-patient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❌ </a:t>
                      </a:r>
                      <a:r>
                        <a:rPr lang="en-US" sz="1600"/>
                        <a:t>Non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❌ </a:t>
                      </a:r>
                      <a:r>
                        <a:rPr lang="en-US" sz="1600"/>
                        <a:t>Non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✅ </a:t>
                      </a:r>
                      <a:r>
                        <a:rPr lang="en-US" sz="1600"/>
                        <a:t>Oui (kNN)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270819"/>
                  </a:ext>
                </a:extLst>
              </a:tr>
              <a:tr h="310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Complexité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Moyenne à élevée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Faible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Élevée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58417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Nombre de layers (final)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1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2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2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324236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Rôle des layers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Agrégation unique optimisée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Raffinement progressif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Propagation multi-relations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295388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Résidu (skip connection)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✅ </a:t>
                      </a:r>
                      <a:r>
                        <a:rPr lang="en-US" sz="1600" dirty="0"/>
                        <a:t>Oui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✅ </a:t>
                      </a:r>
                      <a:r>
                        <a:rPr lang="en-US" sz="1600"/>
                        <a:t>Oui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⚠️ optionnel / parfois absent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182268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Sensibilité au bruit image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Faible (attention filtre)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Élevée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Moyenne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23554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Capacité de modélisation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Haute (fine-grained)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Limitée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Très haute (structurelle)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85690"/>
                  </a:ext>
                </a:extLst>
              </a:tr>
              <a:tr h="36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Type de fusion</a:t>
                      </a:r>
                      <a:endParaRPr lang="en-US" sz="160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Fusion adaptative (attention)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Fusion simple (moyenne)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Fusion relationnelle globale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149930"/>
                  </a:ext>
                </a:extLst>
              </a:tr>
              <a:tr h="57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Utilisation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optimale</a:t>
                      </a:r>
                      <a:endParaRPr lang="en-US" sz="1600" dirty="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Sélection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d’images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importantes</a:t>
                      </a:r>
                      <a:endParaRPr lang="en-US" sz="1600" dirty="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Baseline simple et </a:t>
                      </a:r>
                      <a:r>
                        <a:rPr lang="en-US" sz="1600" dirty="0" err="1"/>
                        <a:t>robuste</a:t>
                      </a:r>
                      <a:endParaRPr lang="en-US" sz="1600" dirty="0"/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Exploitation de relations complexes</a:t>
                      </a:r>
                    </a:p>
                  </a:txBody>
                  <a:tcPr marL="40667" marR="40667" marT="20333" marB="20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79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851457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67F03-3142-DEB9-B1AD-9E6B228E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2737CEF-EDEF-226D-1F2C-04738E26D95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800" dirty="0"/>
              <a:t>Hierarchy Attention Fusion</a:t>
            </a:r>
            <a:endParaRPr lang="en-IL" sz="8800" dirty="0">
              <a:solidFill>
                <a:prstClr val="black"/>
              </a:solidFill>
              <a:latin typeface="Aptos" panose="0211000402020202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0188953-3B4B-E387-DCC6-5924774E64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425" y="799350"/>
                <a:ext cx="4964620" cy="52996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r>
                  <a:rPr lang="he-IL" altLang="en-IL" sz="1800" dirty="0">
                    <a:latin typeface="Arial Unicode MS"/>
                  </a:rPr>
                  <a:t>2 וקטורים התחלתיים לכל מטופל </a:t>
                </a:r>
                <a:r>
                  <a:rPr lang="en-US" altLang="en-IL" sz="1800" dirty="0">
                    <a:latin typeface="Arial Unicode MS"/>
                  </a:rPr>
                  <a:t>:</a:t>
                </a:r>
                <a:r>
                  <a:rPr lang="he-IL" altLang="en-IL" sz="1800" dirty="0">
                    <a:latin typeface="Arial Unicode MS"/>
                  </a:rPr>
                  <a:t> רפואי + </a:t>
                </a:r>
                <a:r>
                  <a:rPr lang="en-US" altLang="en-IL" sz="1800" dirty="0">
                    <a:latin typeface="Arial Unicode MS"/>
                  </a:rPr>
                  <a:t>WSI</a:t>
                </a: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endParaRPr lang="en-US" altLang="en-IL" sz="1800" dirty="0">
                  <a:latin typeface="Arial Unicode MS"/>
                </a:endParaRP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r>
                  <a:rPr lang="he-IL" altLang="en-IL" sz="1800" dirty="0">
                    <a:latin typeface="Arial Unicode MS"/>
                  </a:rPr>
                  <a:t>כל אחד עובר </a:t>
                </a:r>
                <a:r>
                  <a:rPr lang="en-US" altLang="en-IL" sz="1800" dirty="0">
                    <a:latin typeface="Arial Unicode MS"/>
                  </a:rPr>
                  <a:t>Encoder </a:t>
                </a:r>
                <a:r>
                  <a:rPr lang="he-IL" altLang="en-IL" sz="1800" dirty="0">
                    <a:latin typeface="Arial Unicode MS"/>
                  </a:rPr>
                  <a:t> לקבלת ייצוגים באותו מרחב</a:t>
                </a: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endParaRPr lang="he-IL" altLang="en-IL" sz="1800" dirty="0">
                  <a:latin typeface="Arial Unicode MS"/>
                </a:endParaRP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r>
                  <a:rPr lang="he-IL" altLang="en-IL" sz="1800" dirty="0">
                    <a:latin typeface="Arial Unicode MS"/>
                  </a:rPr>
                  <a:t>מבצעים </a:t>
                </a:r>
                <a:r>
                  <a:rPr lang="en-US" altLang="en-IL" sz="1800" dirty="0">
                    <a:latin typeface="Arial Unicode MS"/>
                  </a:rPr>
                  <a:t>Concatenation </a:t>
                </a:r>
                <a:r>
                  <a:rPr lang="he-IL" altLang="en-IL" sz="1800" dirty="0">
                    <a:latin typeface="Arial Unicode MS"/>
                  </a:rPr>
                  <a:t> של שני הווקטורים</a:t>
                </a: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endParaRPr lang="he-IL" altLang="en-IL" sz="1800" dirty="0">
                  <a:latin typeface="Arial Unicode MS"/>
                </a:endParaRP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r>
                  <a:rPr lang="he-IL" altLang="en-IL" sz="1800" dirty="0">
                    <a:latin typeface="Arial Unicode MS"/>
                  </a:rPr>
                  <a:t>רשת קטנה לומדת וקטור משקלים</a:t>
                </a:r>
                <a:r>
                  <a:rPr lang="en-US" altLang="en-IL" sz="1800" dirty="0">
                    <a:latin typeface="Arial Unicode MS"/>
                  </a:rPr>
                  <a:t> </a:t>
                </a:r>
                <a:r>
                  <a:rPr lang="el-GR" altLang="en-IL" sz="1800" dirty="0">
                    <a:latin typeface="Arial Unicode MS"/>
                  </a:rPr>
                  <a:t>α </a:t>
                </a:r>
                <a:r>
                  <a:rPr lang="he-IL" altLang="en-IL" sz="1800" dirty="0">
                    <a:latin typeface="Arial Unicode MS"/>
                  </a:rPr>
                  <a:t>עבור כל מימד</a:t>
                </a: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endParaRPr lang="he-IL" altLang="en-IL" sz="1800" dirty="0">
                  <a:latin typeface="Arial Unicode MS"/>
                </a:endParaRPr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r>
                  <a:rPr lang="en-US" altLang="en-IL" sz="1800" dirty="0">
                    <a:latin typeface="Arial Unicode MS"/>
                  </a:rPr>
                  <a:t>Fusion</a:t>
                </a:r>
                <a:r>
                  <a:rPr lang="he-IL" altLang="en-IL" sz="1800" dirty="0">
                    <a:latin typeface="Arial Unicode MS"/>
                  </a:rPr>
                  <a:t>:</a:t>
                </a:r>
                <a:endParaRPr lang="en-US" altLang="en-IL" sz="1800" dirty="0">
                  <a:latin typeface="Arial Unicode M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i-FI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i-FI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i-FI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i-FI" sz="18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i-FI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i-FI" sz="18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i-FI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i-FI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i-FI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fi-FI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i-FI" sz="18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i-FI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fi-FI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L" sz="1800" dirty="0"/>
              </a:p>
              <a:p>
                <a:pPr marL="342900" lvl="0" indent="-34290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AutoNum type="arabicPeriod"/>
                </a:pPr>
                <a:endParaRPr lang="en-US" altLang="en-IL" sz="1800" dirty="0">
                  <a:latin typeface="Arial Unicode MS"/>
                </a:endParaRPr>
              </a:p>
              <a:p>
                <a:pPr marL="0" lvl="0" indent="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he-IL" altLang="en-IL" sz="1800" dirty="0">
                    <a:latin typeface="Arial Unicode MS"/>
                  </a:rPr>
                  <a:t>6. הווקטור הממוזג נכנס ל</a:t>
                </a:r>
                <a:r>
                  <a:rPr lang="en-US" altLang="en-IL" sz="1800" dirty="0">
                    <a:latin typeface="Arial Unicode MS"/>
                  </a:rPr>
                  <a:t> MLP </a:t>
                </a:r>
                <a:r>
                  <a:rPr lang="he-IL" altLang="en-IL" sz="1800" dirty="0">
                    <a:latin typeface="Arial Unicode MS"/>
                  </a:rPr>
                  <a:t>סופי</a:t>
                </a:r>
              </a:p>
              <a:p>
                <a:pPr marL="0" lvl="0" indent="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he-IL" altLang="en-IL" sz="1800" dirty="0">
                  <a:latin typeface="Arial Unicode MS"/>
                </a:endParaRPr>
              </a:p>
              <a:p>
                <a:pPr marL="0" lvl="0" indent="0" algn="r" rt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he-IL" altLang="en-IL" sz="1800" dirty="0">
                    <a:latin typeface="Arial Unicode MS"/>
                  </a:rPr>
                  <a:t>7. המודל מחזיר </a:t>
                </a:r>
                <a:r>
                  <a:rPr lang="en-US" altLang="en-IL" sz="1800" dirty="0">
                    <a:latin typeface="Arial Unicode MS"/>
                  </a:rPr>
                  <a:t>logit</a:t>
                </a:r>
                <a:r>
                  <a:rPr lang="he-IL" altLang="en-IL" sz="1800" dirty="0">
                    <a:latin typeface="Arial Unicode MS"/>
                  </a:rPr>
                  <a:t> , הסתברות , סיווג לכל מטופל</a:t>
                </a:r>
                <a:endParaRPr lang="en-IL" altLang="en-IL" sz="1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D0188953-3B4B-E387-DCC6-5924774E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25" y="799350"/>
                <a:ext cx="4964620" cy="5299697"/>
              </a:xfrm>
              <a:prstGeom prst="rect">
                <a:avLst/>
              </a:prstGeom>
              <a:blipFill>
                <a:blip r:embed="rId2"/>
                <a:stretch>
                  <a:fillRect l="-736" t="-575" r="-11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2EB7043-F884-6885-1CAE-1418BD10628F}"/>
                  </a:ext>
                </a:extLst>
              </p:cNvPr>
              <p:cNvSpPr/>
              <p:nvPr/>
            </p:nvSpPr>
            <p:spPr>
              <a:xfrm>
                <a:off x="9822649" y="799350"/>
                <a:ext cx="2264570" cy="103327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wsi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 WSI vector</a:t>
                </a:r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2EB7043-F884-6885-1CAE-1418BD1062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649" y="799350"/>
                <a:ext cx="2264570" cy="103327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B0F238-B6D6-B19E-B5C6-3BC10964497F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10954934" y="1832622"/>
            <a:ext cx="486" cy="2320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lowchart: Alternate Process 12">
                <a:extLst>
                  <a:ext uri="{FF2B5EF4-FFF2-40B4-BE49-F238E27FC236}">
                    <a16:creationId xmlns:a16="http://schemas.microsoft.com/office/drawing/2014/main" id="{EAA1C018-B79A-8B17-8E2D-C6944D53FCA7}"/>
                  </a:ext>
                </a:extLst>
              </p:cNvPr>
              <p:cNvSpPr/>
              <p:nvPr/>
            </p:nvSpPr>
            <p:spPr>
              <a:xfrm>
                <a:off x="7617955" y="2064685"/>
                <a:ext cx="1889760" cy="868680"/>
              </a:xfrm>
              <a:prstGeom prst="flowChartAlternate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BioEncoder </a:t>
                </a:r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bio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tab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3" name="Flowchart: Alternate Process 12">
                <a:extLst>
                  <a:ext uri="{FF2B5EF4-FFF2-40B4-BE49-F238E27FC236}">
                    <a16:creationId xmlns:a16="http://schemas.microsoft.com/office/drawing/2014/main" id="{EAA1C018-B79A-8B17-8E2D-C6944D53F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955" y="2064685"/>
                <a:ext cx="1889760" cy="868680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206DF4D-FFBA-BBF2-A3C4-46682A61D9F4}"/>
                  </a:ext>
                </a:extLst>
              </p:cNvPr>
              <p:cNvSpPr/>
              <p:nvPr/>
            </p:nvSpPr>
            <p:spPr>
              <a:xfrm>
                <a:off x="7434072" y="770866"/>
                <a:ext cx="2264571" cy="103327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tab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 medical vector</a:t>
                </a:r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206DF4D-FFBA-BBF2-A3C4-46682A61D9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072" y="770866"/>
                <a:ext cx="2264571" cy="103327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606486-A8E9-73D6-A972-CB8FE2D3C28C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8562835" y="1804138"/>
            <a:ext cx="3523" cy="26054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07988F8F-1FFF-67D3-ADD6-02A8F556F04C}"/>
                  </a:ext>
                </a:extLst>
              </p:cNvPr>
              <p:cNvSpPr/>
              <p:nvPr/>
            </p:nvSpPr>
            <p:spPr>
              <a:xfrm>
                <a:off x="10010540" y="2064685"/>
                <a:ext cx="1889760" cy="868680"/>
              </a:xfrm>
              <a:prstGeom prst="flowChartAlternate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WSIEncoder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wsi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wsi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07988F8F-1FFF-67D3-ADD6-02A8F556F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540" y="2064685"/>
                <a:ext cx="1889760" cy="868680"/>
              </a:xfrm>
              <a:prstGeom prst="flowChartAlternateProcess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2CB6804-26FE-2821-830A-FFA3E95BD9F7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9149188" y="2347012"/>
            <a:ext cx="232422" cy="140512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4B82649-D4DB-D09D-DE8B-BF502B0B901F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>
            <a:off x="9935477" y="2145844"/>
            <a:ext cx="232422" cy="18074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FCBB535-1224-793D-A50D-880D13B4A66D}"/>
                  </a:ext>
                </a:extLst>
              </p:cNvPr>
              <p:cNvSpPr/>
              <p:nvPr/>
            </p:nvSpPr>
            <p:spPr>
              <a:xfrm>
                <a:off x="6289724" y="4403447"/>
                <a:ext cx="1666649" cy="31206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[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  ||  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FCBB535-1224-793D-A50D-880D13B4A6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724" y="4403447"/>
                <a:ext cx="1666649" cy="312061"/>
              </a:xfrm>
              <a:prstGeom prst="rect">
                <a:avLst/>
              </a:prstGeom>
              <a:blipFill>
                <a:blip r:embed="rId7"/>
                <a:stretch>
                  <a:fillRect b="-21818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69879F-EE93-7732-316F-F135B0B643E2}"/>
              </a:ext>
            </a:extLst>
          </p:cNvPr>
          <p:cNvCxnSpPr>
            <a:cxnSpLocks/>
          </p:cNvCxnSpPr>
          <p:nvPr/>
        </p:nvCxnSpPr>
        <p:spPr>
          <a:xfrm>
            <a:off x="7123048" y="4715508"/>
            <a:ext cx="0" cy="22477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68C8A81-7919-6D40-4257-404C1466CF32}"/>
                  </a:ext>
                </a:extLst>
              </p:cNvPr>
              <p:cNvSpPr/>
              <p:nvPr/>
            </p:nvSpPr>
            <p:spPr>
              <a:xfrm>
                <a:off x="5317768" y="4940286"/>
                <a:ext cx="3528337" cy="9326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l-P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l-P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l-P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pl-P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pl-P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l-P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pl-P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l-P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l-P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l-P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68C8A81-7919-6D40-4257-404C1466C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768" y="4940286"/>
                <a:ext cx="3528337" cy="932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AFB72DF-3A95-B34F-D8AA-3D2D7BEC1D17}"/>
              </a:ext>
            </a:extLst>
          </p:cNvPr>
          <p:cNvCxnSpPr>
            <a:cxnSpLocks/>
          </p:cNvCxnSpPr>
          <p:nvPr/>
        </p:nvCxnSpPr>
        <p:spPr>
          <a:xfrm>
            <a:off x="7125477" y="5872974"/>
            <a:ext cx="0" cy="22477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23478BC-D9D7-8C42-AEE0-DC1698E4228C}"/>
                  </a:ext>
                </a:extLst>
              </p:cNvPr>
              <p:cNvSpPr/>
              <p:nvPr/>
            </p:nvSpPr>
            <p:spPr>
              <a:xfrm>
                <a:off x="5770046" y="6097752"/>
                <a:ext cx="2706004" cy="4230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i-FI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i-FI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i-FI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i-FI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i-FI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i-FI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fi-FI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i-FI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i-FI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23478BC-D9D7-8C42-AEE0-DC1698E42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046" y="6097752"/>
                <a:ext cx="2706004" cy="4230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49B51D2-51D7-EFEB-92B6-F860F27325A7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9822649" y="3165787"/>
            <a:ext cx="0" cy="2096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EC666B63-B5DB-54CE-5AA4-4751FBDAAEB3}"/>
                  </a:ext>
                </a:extLst>
              </p:cNvPr>
              <p:cNvSpPr/>
              <p:nvPr/>
            </p:nvSpPr>
            <p:spPr>
              <a:xfrm>
                <a:off x="9039829" y="3375390"/>
                <a:ext cx="1565640" cy="4266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Fusion</m:t>
                      </m:r>
                    </m:oMath>
                  </m:oMathPara>
                </a14:m>
                <a:endParaRPr lang="en-IL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EC666B63-B5DB-54CE-5AA4-4751FBDAA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829" y="3375390"/>
                <a:ext cx="1565640" cy="4266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9FF019B-D07A-6DEB-71BB-C198D1895759}"/>
              </a:ext>
            </a:extLst>
          </p:cNvPr>
          <p:cNvCxnSpPr>
            <a:cxnSpLocks/>
            <a:stCxn id="104" idx="4"/>
            <a:endCxn id="102" idx="0"/>
          </p:cNvCxnSpPr>
          <p:nvPr/>
        </p:nvCxnSpPr>
        <p:spPr>
          <a:xfrm flipH="1">
            <a:off x="9822648" y="4616772"/>
            <a:ext cx="1" cy="239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55DABEF-32D9-3133-41FC-425F4596963D}"/>
                  </a:ext>
                </a:extLst>
              </p:cNvPr>
              <p:cNvSpPr/>
              <p:nvPr/>
            </p:nvSpPr>
            <p:spPr>
              <a:xfrm>
                <a:off x="9039828" y="4855827"/>
                <a:ext cx="1565640" cy="5350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Prediction</m:t>
                      </m:r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55DABEF-32D9-3133-41FC-425F45969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828" y="4855827"/>
                <a:ext cx="1565640" cy="5350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410968C-E366-1893-19F9-8467599328CF}"/>
              </a:ext>
            </a:extLst>
          </p:cNvPr>
          <p:cNvCxnSpPr>
            <a:cxnSpLocks/>
            <a:stCxn id="100" idx="2"/>
            <a:endCxn id="104" idx="0"/>
          </p:cNvCxnSpPr>
          <p:nvPr/>
        </p:nvCxnSpPr>
        <p:spPr>
          <a:xfrm>
            <a:off x="9822649" y="3802045"/>
            <a:ext cx="0" cy="2743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AC582AF2-6369-7EF0-A5AD-78DEF7DD909E}"/>
                  </a:ext>
                </a:extLst>
              </p:cNvPr>
              <p:cNvSpPr/>
              <p:nvPr/>
            </p:nvSpPr>
            <p:spPr>
              <a:xfrm>
                <a:off x="9039829" y="4076415"/>
                <a:ext cx="1565640" cy="54035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MLP</m:t>
                      </m:r>
                    </m:oMath>
                  </m:oMathPara>
                </a14:m>
                <a:endParaRPr lang="en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AC582AF2-6369-7EF0-A5AD-78DEF7DD9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829" y="4076415"/>
                <a:ext cx="1565640" cy="54035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23D1CBD8-0BD1-5DA3-5671-A48DACC000BC}"/>
              </a:ext>
            </a:extLst>
          </p:cNvPr>
          <p:cNvCxnSpPr>
            <a:cxnSpLocks/>
            <a:stCxn id="100" idx="1"/>
            <a:endCxn id="56" idx="0"/>
          </p:cNvCxnSpPr>
          <p:nvPr/>
        </p:nvCxnSpPr>
        <p:spPr>
          <a:xfrm rot="10800000" flipV="1">
            <a:off x="7123049" y="3588717"/>
            <a:ext cx="1916780" cy="814729"/>
          </a:xfrm>
          <a:prstGeom prst="bentConnector2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6B3E24E-5AD9-394D-DDDB-71C630D62085}"/>
              </a:ext>
            </a:extLst>
          </p:cNvPr>
          <p:cNvSpPr txBox="1"/>
          <p:nvPr/>
        </p:nvSpPr>
        <p:spPr>
          <a:xfrm>
            <a:off x="5768891" y="3174808"/>
            <a:ext cx="2854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</a:t>
            </a:r>
            <a:r>
              <a:rPr lang="en-IL" dirty="0"/>
              <a:t>ector </a:t>
            </a:r>
            <a:r>
              <a:rPr lang="en-US" dirty="0"/>
              <a:t>A</a:t>
            </a:r>
            <a:r>
              <a:rPr lang="en-IL" dirty="0"/>
              <a:t>ttention mechanism</a:t>
            </a:r>
          </a:p>
        </p:txBody>
      </p:sp>
    </p:spTree>
    <p:extLst>
      <p:ext uri="{BB962C8B-B14F-4D97-AF65-F5344CB8AC3E}">
        <p14:creationId xmlns:p14="http://schemas.microsoft.com/office/powerpoint/2010/main" val="23627045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13" grpId="0" animBg="1"/>
      <p:bldP spid="14" grpId="0" animBg="1"/>
      <p:bldP spid="16" grpId="0" animBg="1"/>
      <p:bldP spid="56" grpId="0" animBg="1"/>
      <p:bldP spid="96" grpId="0" animBg="1"/>
      <p:bldP spid="98" grpId="0" animBg="1"/>
      <p:bldP spid="100" grpId="0" animBg="1"/>
      <p:bldP spid="102" grpId="0" animBg="1"/>
      <p:bldP spid="10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2F088-6F2F-110A-9AB0-49DAEBD3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BEB193F6-4DA6-CB4E-7A96-D8493800822C}"/>
              </a:ext>
            </a:extLst>
          </p:cNvPr>
          <p:cNvSpPr/>
          <p:nvPr/>
        </p:nvSpPr>
        <p:spPr>
          <a:xfrm>
            <a:off x="2035767" y="3215814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2" descr="Parenchyme rénal montrant à droite des cellules claires tumorales. © Néphron, Wikipédia Commons, CC by-sa 3.0">
            <a:extLst>
              <a:ext uri="{FF2B5EF4-FFF2-40B4-BE49-F238E27FC236}">
                <a16:creationId xmlns:a16="http://schemas.microsoft.com/office/drawing/2014/main" id="{66F0CB8E-8FD0-AD97-0F81-02207EC8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1236513"/>
            <a:ext cx="1657930" cy="1130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>
              <a:schemeClr val="accent1">
                <a:alpha val="46000"/>
              </a:schemeClr>
            </a:glow>
            <a:outerShdw blurRad="50800" dist="38100" dir="2700000" algn="tl" rotWithShape="0">
              <a:srgbClr val="000000">
                <a:alpha val="52000"/>
              </a:srgbClr>
            </a:outerShdw>
            <a:reflection stA="0" dist="114300" dir="5400000" sy="-100000" algn="bl" rotWithShape="0"/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dna strand on a white background&#10;&#10;Description automatically generated">
            <a:extLst>
              <a:ext uri="{FF2B5EF4-FFF2-40B4-BE49-F238E27FC236}">
                <a16:creationId xmlns:a16="http://schemas.microsoft.com/office/drawing/2014/main" id="{02084979-A64F-DB38-0FF4-CD37E935B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637" y="4643442"/>
            <a:ext cx="1675239" cy="1162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8" descr="Free Medical Icon Set Vector 109622 Vector Art at Vecteezy">
            <a:extLst>
              <a:ext uri="{FF2B5EF4-FFF2-40B4-BE49-F238E27FC236}">
                <a16:creationId xmlns:a16="http://schemas.microsoft.com/office/drawing/2014/main" id="{9E5526E8-8CA0-77E5-EEE3-964F6C01E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7637" y="2924664"/>
            <a:ext cx="1675239" cy="1160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C2A9A84-F057-CC6F-7E9D-7EBE906A571C}"/>
              </a:ext>
            </a:extLst>
          </p:cNvPr>
          <p:cNvCxnSpPr>
            <a:cxnSpLocks/>
          </p:cNvCxnSpPr>
          <p:nvPr/>
        </p:nvCxnSpPr>
        <p:spPr>
          <a:xfrm flipV="1">
            <a:off x="6795186" y="2675822"/>
            <a:ext cx="872822" cy="753177"/>
          </a:xfrm>
          <a:prstGeom prst="bentConnector3">
            <a:avLst>
              <a:gd name="adj1" fmla="val 37869"/>
            </a:avLst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1CB073A-9C73-6340-1BE0-52995773894A}"/>
              </a:ext>
            </a:extLst>
          </p:cNvPr>
          <p:cNvCxnSpPr>
            <a:cxnSpLocks/>
          </p:cNvCxnSpPr>
          <p:nvPr/>
        </p:nvCxnSpPr>
        <p:spPr>
          <a:xfrm>
            <a:off x="6720731" y="3428998"/>
            <a:ext cx="947980" cy="750924"/>
          </a:xfrm>
          <a:prstGeom prst="bentConnector3">
            <a:avLst>
              <a:gd name="adj1" fmla="val 42283"/>
            </a:avLst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19F01C1-92D0-6B7C-974A-BCE5F97931EB}"/>
              </a:ext>
            </a:extLst>
          </p:cNvPr>
          <p:cNvSpPr/>
          <p:nvPr/>
        </p:nvSpPr>
        <p:spPr>
          <a:xfrm>
            <a:off x="7666843" y="2236669"/>
            <a:ext cx="165793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WSI Embedding optimization</a:t>
            </a:r>
            <a:endParaRPr lang="en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A04375-ED8D-0072-04C5-4E10542F669E}"/>
              </a:ext>
            </a:extLst>
          </p:cNvPr>
          <p:cNvSpPr/>
          <p:nvPr/>
        </p:nvSpPr>
        <p:spPr>
          <a:xfrm>
            <a:off x="2755797" y="2977246"/>
            <a:ext cx="1793424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exploration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F5FF61D-C7CD-4EE3-B76C-958F926E1C7E}"/>
              </a:ext>
            </a:extLst>
          </p:cNvPr>
          <p:cNvSpPr/>
          <p:nvPr/>
        </p:nvSpPr>
        <p:spPr>
          <a:xfrm>
            <a:off x="4619570" y="3196881"/>
            <a:ext cx="649681" cy="426369"/>
          </a:xfrm>
          <a:prstGeom prst="rightArrow">
            <a:avLst>
              <a:gd name="adj1" fmla="val 27891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8BCE4E-5017-7E5F-9424-6775B41AF684}"/>
              </a:ext>
            </a:extLst>
          </p:cNvPr>
          <p:cNvSpPr/>
          <p:nvPr/>
        </p:nvSpPr>
        <p:spPr>
          <a:xfrm>
            <a:off x="5339600" y="2958564"/>
            <a:ext cx="142696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</a:t>
            </a:r>
            <a:endParaRPr lang="en-IL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21E7C4-13D7-63BF-4EC8-2D6521F5E9D7}"/>
              </a:ext>
            </a:extLst>
          </p:cNvPr>
          <p:cNvSpPr/>
          <p:nvPr/>
        </p:nvSpPr>
        <p:spPr>
          <a:xfrm>
            <a:off x="7666843" y="3765136"/>
            <a:ext cx="165793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Fusion Multimodal</a:t>
            </a:r>
            <a:endParaRPr lang="en-IL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5F7DB2E-5E68-C1B2-132C-FADBA0ED0B77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9324773" y="2675822"/>
            <a:ext cx="1022629" cy="775290"/>
          </a:xfrm>
          <a:prstGeom prst="bentConnector3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5AE2757-36A0-9657-484A-74909EF0BC8F}"/>
              </a:ext>
            </a:extLst>
          </p:cNvPr>
          <p:cNvCxnSpPr>
            <a:cxnSpLocks/>
          </p:cNvCxnSpPr>
          <p:nvPr/>
        </p:nvCxnSpPr>
        <p:spPr>
          <a:xfrm flipV="1">
            <a:off x="9324773" y="3451112"/>
            <a:ext cx="1024035" cy="771025"/>
          </a:xfrm>
          <a:prstGeom prst="bentConnector3">
            <a:avLst/>
          </a:prstGeom>
          <a:ln w="1016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AD3C04C-5395-CA88-AC5E-B387F4B53444}"/>
              </a:ext>
            </a:extLst>
          </p:cNvPr>
          <p:cNvSpPr/>
          <p:nvPr/>
        </p:nvSpPr>
        <p:spPr>
          <a:xfrm>
            <a:off x="10347402" y="3011959"/>
            <a:ext cx="1426960" cy="8783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Results &amp; Conclusion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7761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7CEC2-7508-3B50-2F83-891BB955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5AAEC1-C20C-5694-47F5-CC98F934B6C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dirty="0"/>
              <a:t>Results &amp; Conclusion</a:t>
            </a:r>
            <a:endParaRPr lang="en-IL" sz="88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CC6D463-279D-E742-C8FD-A2F60D050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808" y="840798"/>
            <a:ext cx="5727192" cy="2542033"/>
          </a:xfrm>
        </p:spPr>
        <p:txBody>
          <a:bodyPr>
            <a:normAutofit/>
          </a:bodyPr>
          <a:lstStyle/>
          <a:p>
            <a:pPr marL="0" lvl="0" indent="0"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en-IL" sz="2000" dirty="0">
                <a:latin typeface="Arial" panose="020B0604020202020204" pitchFamily="34" charset="0"/>
              </a:rPr>
              <a:t>- למידה מטרי (+15)</a:t>
            </a:r>
            <a:r>
              <a:rPr lang="en-US" altLang="en-IL" sz="2000" dirty="0">
                <a:latin typeface="Arial" panose="020B0604020202020204" pitchFamily="34" charset="0"/>
              </a:rPr>
              <a:t> </a:t>
            </a:r>
            <a:r>
              <a:rPr lang="he-IL" altLang="en-IL" sz="2000" dirty="0">
                <a:latin typeface="Arial" panose="020B0604020202020204" pitchFamily="34" charset="0"/>
              </a:rPr>
              <a:t>מאשרת כי ארגון מחדש של המרחב משפר את יכולת ההבחנה בין </a:t>
            </a:r>
            <a:r>
              <a:rPr lang="en-US" altLang="en-IL" sz="2000" dirty="0">
                <a:latin typeface="Arial" panose="020B0604020202020204" pitchFamily="34" charset="0"/>
              </a:rPr>
              <a:t>WSI</a:t>
            </a:r>
            <a:endParaRPr lang="he-IL" altLang="en-IL" sz="2000" dirty="0">
              <a:latin typeface="Arial" panose="020B0604020202020204" pitchFamily="34" charset="0"/>
            </a:endParaRPr>
          </a:p>
          <a:p>
            <a:pPr marL="0" lvl="0" indent="0"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IL" sz="2000" dirty="0">
              <a:latin typeface="Arial" panose="020B0604020202020204" pitchFamily="34" charset="0"/>
            </a:endParaRPr>
          </a:p>
          <a:p>
            <a:pPr marL="0" lvl="0" indent="0"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en-IL" sz="2000" dirty="0">
                <a:latin typeface="Arial" panose="020B0604020202020204" pitchFamily="34" charset="0"/>
              </a:rPr>
              <a:t>- היתוך רב-מודאלי מובנה (+12) מספק מידע משלים שאין לו תחליף בין שיטות.</a:t>
            </a:r>
          </a:p>
          <a:p>
            <a:pPr marL="0" lvl="0" indent="0"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he-IL" altLang="en-IL" sz="2000" dirty="0">
              <a:latin typeface="Arial" panose="020B0604020202020204" pitchFamily="34" charset="0"/>
            </a:endParaRPr>
          </a:p>
          <a:p>
            <a:pPr marL="0" lvl="0" indent="0"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en-IL" sz="2000" dirty="0">
                <a:latin typeface="Arial" panose="020B0604020202020204" pitchFamily="34" charset="0"/>
              </a:rPr>
              <a:t>- פשטות אדריכלית (</a:t>
            </a:r>
            <a:r>
              <a:rPr lang="en-US" altLang="en-IL" sz="2000" dirty="0">
                <a:latin typeface="Arial" panose="020B0604020202020204" pitchFamily="34" charset="0"/>
              </a:rPr>
              <a:t>GraphSAGE</a:t>
            </a:r>
            <a:r>
              <a:rPr lang="he-IL" altLang="en-IL" sz="2000" dirty="0">
                <a:latin typeface="Arial" panose="020B0604020202020204" pitchFamily="34" charset="0"/>
              </a:rPr>
              <a:t>)</a:t>
            </a:r>
            <a:r>
              <a:rPr lang="en-US" altLang="en-IL" sz="2000" dirty="0">
                <a:latin typeface="Arial" panose="020B0604020202020204" pitchFamily="34" charset="0"/>
              </a:rPr>
              <a:t> </a:t>
            </a:r>
            <a:r>
              <a:rPr lang="he-IL" altLang="en-IL" sz="2000" dirty="0">
                <a:latin typeface="Arial" panose="020B0604020202020204" pitchFamily="34" charset="0"/>
              </a:rPr>
              <a:t>עולה בביצועיה על </a:t>
            </a:r>
            <a:r>
              <a:rPr lang="en-US" altLang="en-IL" sz="2000" dirty="0">
                <a:latin typeface="Arial" panose="020B0604020202020204" pitchFamily="34" charset="0"/>
              </a:rPr>
              <a:t>GNN </a:t>
            </a:r>
            <a:r>
              <a:rPr lang="he-IL" altLang="en-IL" sz="2000" dirty="0">
                <a:latin typeface="Arial" panose="020B0604020202020204" pitchFamily="34" charset="0"/>
              </a:rPr>
              <a:t> מורכבים יותר במערכי נתונים קליניים קטנים.</a:t>
            </a:r>
            <a:endParaRPr lang="en-IL" altLang="en-IL" sz="20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D77CDB-F6B1-7D9B-009C-D4446E1D4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66034"/>
              </p:ext>
            </p:extLst>
          </p:nvPr>
        </p:nvGraphicFramePr>
        <p:xfrm>
          <a:off x="173736" y="708301"/>
          <a:ext cx="6291072" cy="2807029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2487168">
                  <a:extLst>
                    <a:ext uri="{9D8B030D-6E8A-4147-A177-3AD203B41FA5}">
                      <a16:colId xmlns:a16="http://schemas.microsoft.com/office/drawing/2014/main" val="382016583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1815172707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426687944"/>
                    </a:ext>
                  </a:extLst>
                </a:gridCol>
              </a:tblGrid>
              <a:tr h="537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Experiment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WSI Only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All modalities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1754249"/>
                  </a:ext>
                </a:extLst>
              </a:tr>
              <a:tr h="3536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/>
                        <a:t>Baseline Model</a:t>
                      </a:r>
                      <a:endParaRPr lang="en-IL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/>
                        <a:t>0.53 </a:t>
                      </a:r>
                      <a:endParaRPr lang="en-IL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4735346"/>
                  </a:ext>
                </a:extLst>
              </a:tr>
              <a:tr h="3536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Triplet-Loss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0.63 / +0.10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3569492"/>
                  </a:ext>
                </a:extLst>
              </a:tr>
              <a:tr h="41033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Contrastive learning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0.68 / </a:t>
                      </a:r>
                      <a:r>
                        <a:rPr lang="en-US" sz="180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+0.15</a:t>
                      </a:r>
                      <a:endParaRPr lang="en-IL" sz="160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7943814"/>
                  </a:ext>
                </a:extLst>
              </a:tr>
              <a:tr h="2549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GraphSAGE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0.80 / </a:t>
                      </a:r>
                      <a:r>
                        <a:rPr lang="en-US" sz="180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+0.12</a:t>
                      </a:r>
                      <a:endParaRPr lang="en-IL" sz="160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7069627"/>
                  </a:ext>
                </a:extLst>
              </a:tr>
              <a:tr h="2549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GraphRGCN</a:t>
                      </a:r>
                      <a:endParaRPr lang="en-IL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0.74 / +0.06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1041626"/>
                  </a:ext>
                </a:extLst>
              </a:tr>
              <a:tr h="2549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GraphGAT</a:t>
                      </a:r>
                      <a:endParaRPr lang="en-IL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0.72 / +0.04</a:t>
                      </a:r>
                      <a:endParaRPr lang="en-IL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4815720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AC4C36-33EF-852A-5A2E-CB4B8FC1F2BD}"/>
              </a:ext>
            </a:extLst>
          </p:cNvPr>
          <p:cNvSpPr txBox="1">
            <a:spLocks/>
          </p:cNvSpPr>
          <p:nvPr/>
        </p:nvSpPr>
        <p:spPr>
          <a:xfrm>
            <a:off x="310896" y="4223631"/>
            <a:ext cx="11734800" cy="2542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he-IL" altLang="en-IL" sz="1800" dirty="0">
                <a:latin typeface="Arial" panose="020B0604020202020204" pitchFamily="34" charset="0"/>
              </a:rPr>
              <a:t>חוסר איזון חזק (88% שורדים) נותר אתגר מתמשך</a:t>
            </a:r>
          </a:p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he-IL" altLang="en-IL" sz="1800" dirty="0">
              <a:latin typeface="Arial" panose="020B0604020202020204" pitchFamily="34" charset="0"/>
            </a:endParaRPr>
          </a:p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he-IL" altLang="en-IL" sz="1800" dirty="0">
                <a:latin typeface="Arial" panose="020B0604020202020204" pitchFamily="34" charset="0"/>
              </a:rPr>
              <a:t>עמוד השדרה </a:t>
            </a:r>
            <a:r>
              <a:rPr lang="en-US" altLang="en-IL" sz="1800" dirty="0">
                <a:latin typeface="Arial" panose="020B0604020202020204" pitchFamily="34" charset="0"/>
              </a:rPr>
              <a:t>ResNet-50 </a:t>
            </a:r>
            <a:r>
              <a:rPr lang="he-IL" altLang="en-IL" sz="1800" dirty="0">
                <a:latin typeface="Arial" panose="020B0604020202020204" pitchFamily="34" charset="0"/>
              </a:rPr>
              <a:t> החלפה במקודדים אדפטיביים לתחום </a:t>
            </a:r>
          </a:p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he-IL" altLang="en-IL" sz="1800" dirty="0">
              <a:latin typeface="Arial" panose="020B0604020202020204" pitchFamily="34" charset="0"/>
            </a:endParaRPr>
          </a:p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he-IL" altLang="en-IL" sz="1800" dirty="0">
                <a:latin typeface="Arial" panose="020B0604020202020204" pitchFamily="34" charset="0"/>
              </a:rPr>
              <a:t>שילוב מנגנוני קשב בין-מודאליים (טכניקת היתוך מבוססת </a:t>
            </a:r>
            <a:r>
              <a:rPr lang="en-US" altLang="en-IL" sz="1800" dirty="0" err="1">
                <a:latin typeface="Arial" panose="020B0604020202020204" pitchFamily="34" charset="0"/>
              </a:rPr>
              <a:t>transformeurs</a:t>
            </a:r>
            <a:r>
              <a:rPr lang="he-IL" altLang="en-IL" sz="1800" dirty="0">
                <a:latin typeface="Arial" panose="020B0604020202020204" pitchFamily="34" charset="0"/>
              </a:rPr>
              <a:t>) יכול לאפשר אינטראקציות עדינות יותר בין תכונות </a:t>
            </a:r>
            <a:r>
              <a:rPr lang="en-US" altLang="en-IL" sz="1800" dirty="0">
                <a:latin typeface="Arial" panose="020B0604020202020204" pitchFamily="34" charset="0"/>
              </a:rPr>
              <a:t>WSI </a:t>
            </a:r>
            <a:r>
              <a:rPr lang="he-IL" altLang="en-IL" sz="1800" dirty="0">
                <a:latin typeface="Arial" panose="020B0604020202020204" pitchFamily="34" charset="0"/>
              </a:rPr>
              <a:t>לבין אופנים טבלאיים בהשוואה לצבירה מבוססת גרף.</a:t>
            </a:r>
            <a:endParaRPr lang="en-US" altLang="en-IL" sz="1800" dirty="0">
              <a:latin typeface="Arial" panose="020B0604020202020204" pitchFamily="34" charset="0"/>
            </a:endParaRPr>
          </a:p>
          <a:p>
            <a:pPr algn="r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altLang="en-IL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9239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AD9AE-7313-46C0-B430-98F83A309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D0ED4A-3FEF-7B57-19CC-CFF86F0C2A43}"/>
              </a:ext>
            </a:extLst>
          </p:cNvPr>
          <p:cNvSpPr txBox="1">
            <a:spLocks/>
          </p:cNvSpPr>
          <p:nvPr/>
        </p:nvSpPr>
        <p:spPr>
          <a:xfrm>
            <a:off x="632792" y="392976"/>
            <a:ext cx="10515600" cy="708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" panose="02000000000000000000" pitchFamily="2" charset="0"/>
                <a:ea typeface="+mj-ea"/>
                <a:cs typeface="+mj-cs"/>
              </a:rPr>
              <a:t>Research resources and tools</a:t>
            </a:r>
          </a:p>
        </p:txBody>
      </p:sp>
      <p:pic>
        <p:nvPicPr>
          <p:cNvPr id="1026" name="Picture 2" descr="ChatGPT Logo and symbol, meaning, history, PNG, brand">
            <a:extLst>
              <a:ext uri="{FF2B5EF4-FFF2-40B4-BE49-F238E27FC236}">
                <a16:creationId xmlns:a16="http://schemas.microsoft.com/office/drawing/2014/main" id="{CD01F7DC-3D3A-DFC3-5520-98A278810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6" t="5073" r="24528" b="7043"/>
          <a:stretch/>
        </p:blipFill>
        <p:spPr bwMode="auto">
          <a:xfrm>
            <a:off x="3447255" y="2828879"/>
            <a:ext cx="1356852" cy="128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ffectively use StackOverflow as a contributor">
            <a:extLst>
              <a:ext uri="{FF2B5EF4-FFF2-40B4-BE49-F238E27FC236}">
                <a16:creationId xmlns:a16="http://schemas.microsoft.com/office/drawing/2014/main" id="{CAB5CE4A-5A38-F59D-E8CB-A9846581B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77" b="89577" l="7173" r="92827">
                        <a14:foregroundMark x1="7173" y1="56338" x2="7173" y2="56338"/>
                        <a14:foregroundMark x1="7173" y1="62254" x2="7173" y2="62254"/>
                        <a14:foregroundMark x1="16878" y1="56338" x2="16878" y2="56338"/>
                        <a14:foregroundMark x1="20042" y1="50423" x2="20042" y2="50423"/>
                        <a14:foregroundMark x1="23629" y1="47324" x2="23629" y2="47324"/>
                        <a14:foregroundMark x1="18987" y1="61972" x2="18987" y2="61972"/>
                        <a14:foregroundMark x1="51899" y1="42254" x2="51899" y2="42254"/>
                        <a14:foregroundMark x1="47257" y1="44789" x2="47257" y2="44789"/>
                        <a14:foregroundMark x1="40928" y1="46197" x2="40928" y2="46197"/>
                        <a14:foregroundMark x1="62658" y1="43662" x2="62658" y2="43662"/>
                        <a14:foregroundMark x1="67089" y1="45352" x2="67089" y2="45352"/>
                        <a14:foregroundMark x1="44093" y1="63380" x2="44093" y2="63380"/>
                        <a14:foregroundMark x1="48101" y1="63662" x2="48101" y2="63662"/>
                        <a14:foregroundMark x1="54008" y1="64225" x2="54008" y2="64225"/>
                        <a14:foregroundMark x1="63291" y1="62254" x2="63291" y2="62254"/>
                        <a14:foregroundMark x1="68776" y1="60845" x2="68776" y2="60845"/>
                        <a14:foregroundMark x1="73207" y1="61690" x2="73207" y2="61690"/>
                        <a14:foregroundMark x1="77004" y1="63099" x2="77004" y2="63099"/>
                        <a14:foregroundMark x1="89030" y1="61690" x2="89030" y2="61690"/>
                        <a14:foregroundMark x1="27637" y1="66479" x2="27637" y2="66479"/>
                        <a14:foregroundMark x1="92827" y1="61408" x2="92827" y2="61408"/>
                        <a14:backgroundMark x1="18354" y1="37746" x2="18354" y2="37746"/>
                        <a14:backgroundMark x1="21730" y1="40845" x2="21730" y2="40845"/>
                        <a14:backgroundMark x1="24895" y1="44789" x2="24895" y2="44789"/>
                        <a14:backgroundMark x1="26160" y1="37746" x2="26160" y2="37746"/>
                        <a14:backgroundMark x1="25105" y1="35493" x2="25105" y2="35493"/>
                        <a14:backgroundMark x1="26582" y1="54366" x2="26582" y2="54366"/>
                        <a14:backgroundMark x1="21519" y1="49296" x2="21519" y2="49296"/>
                        <a14:backgroundMark x1="24473" y1="51268" x2="24473" y2="51268"/>
                        <a14:backgroundMark x1="27848" y1="52676" x2="27848" y2="52676"/>
                        <a14:backgroundMark x1="20464" y1="54930" x2="20464" y2="54930"/>
                        <a14:backgroundMark x1="11181" y1="58873" x2="11181" y2="58873"/>
                        <a14:backgroundMark x1="11181" y1="58873" x2="11181" y2="58873"/>
                        <a14:backgroundMark x1="8228" y1="58310" x2="8228" y2="58310"/>
                        <a14:backgroundMark x1="9072" y1="61408" x2="9072" y2="61408"/>
                        <a14:backgroundMark x1="9072" y1="66197" x2="9072" y2="66197"/>
                        <a14:backgroundMark x1="17511" y1="65634" x2="17511" y2="65634"/>
                        <a14:backgroundMark x1="24262" y1="65634" x2="24262" y2="65634"/>
                        <a14:backgroundMark x1="16034" y1="59155" x2="16034" y2="59155"/>
                        <a14:backgroundMark x1="14768" y1="67324" x2="14768" y2="67324"/>
                        <a14:backgroundMark x1="13291" y1="67324" x2="13291" y2="67324"/>
                        <a14:backgroundMark x1="57173" y1="63099" x2="57173" y2="630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965" b="17331"/>
          <a:stretch/>
        </p:blipFill>
        <p:spPr bwMode="auto">
          <a:xfrm>
            <a:off x="164980" y="3984809"/>
            <a:ext cx="2241755" cy="90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Blue1Brown - TheTVDB.com">
            <a:extLst>
              <a:ext uri="{FF2B5EF4-FFF2-40B4-BE49-F238E27FC236}">
                <a16:creationId xmlns:a16="http://schemas.microsoft.com/office/drawing/2014/main" id="{E5E311C3-E292-F76C-74A1-37D9E7192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2" t="28591" r="27134" b="12059"/>
          <a:stretch/>
        </p:blipFill>
        <p:spPr bwMode="auto">
          <a:xfrm>
            <a:off x="2932163" y="1127272"/>
            <a:ext cx="1993798" cy="145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2C34CD-2024-7D7E-59C3-C4576429BC90}"/>
              </a:ext>
            </a:extLst>
          </p:cNvPr>
          <p:cNvSpPr txBox="1"/>
          <p:nvPr/>
        </p:nvSpPr>
        <p:spPr>
          <a:xfrm>
            <a:off x="5437610" y="980864"/>
            <a:ext cx="644012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“</a:t>
            </a:r>
            <a:r>
              <a:rPr lang="en-IL" b="1" dirty="0"/>
              <a:t>An image is worth 16x16 words: Transformers for image</a:t>
            </a:r>
            <a:r>
              <a:rPr lang="en-US" b="1" dirty="0"/>
              <a:t> </a:t>
            </a:r>
            <a:r>
              <a:rPr lang="en-IL" b="1" dirty="0"/>
              <a:t>recognition at </a:t>
            </a:r>
            <a:r>
              <a:rPr lang="en-IL" b="1" dirty="0" err="1"/>
              <a:t>scal</a:t>
            </a:r>
            <a:r>
              <a:rPr lang="en-US" b="1" dirty="0"/>
              <a:t>e” </a:t>
            </a:r>
            <a:r>
              <a:rPr lang="en-US" dirty="0"/>
              <a:t>- </a:t>
            </a:r>
            <a:r>
              <a:rPr lang="en-IL" dirty="0" err="1"/>
              <a:t>Dosovitskiy</a:t>
            </a:r>
            <a:r>
              <a:rPr lang="en-IL" dirty="0"/>
              <a:t>, Alexey</a:t>
            </a:r>
            <a:r>
              <a:rPr lang="en-US" dirty="0"/>
              <a:t> (2021)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a-DK" b="1" dirty="0"/>
              <a:t>"Vision Transformers for Dense Prediction"</a:t>
            </a:r>
            <a:r>
              <a:rPr lang="da-DK" dirty="0"/>
              <a:t> – Axel Berg et al. (2021)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"Transformers in Vision: A Survey"</a:t>
            </a:r>
            <a:r>
              <a:rPr lang="en-US" dirty="0"/>
              <a:t> – Khan et al. (2021)</a:t>
            </a:r>
            <a:endParaRPr lang="en-IL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“Masked autoencoder are scalable vision learners” </a:t>
            </a:r>
            <a:r>
              <a:rPr lang="en-US" dirty="0"/>
              <a:t>- </a:t>
            </a:r>
            <a:r>
              <a:rPr lang="en-US" dirty="0" err="1"/>
              <a:t>Kaiming</a:t>
            </a:r>
            <a:r>
              <a:rPr lang="en-US" dirty="0"/>
              <a:t> He (2021)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“</a:t>
            </a:r>
            <a:r>
              <a:rPr lang="en-US" b="1" dirty="0"/>
              <a:t>The Loss Surfaces of Multilayer Networks</a:t>
            </a:r>
            <a:r>
              <a:rPr lang="en-US" dirty="0"/>
              <a:t>” Anna </a:t>
            </a:r>
            <a:r>
              <a:rPr lang="en-US" dirty="0" err="1"/>
              <a:t>Choromanska</a:t>
            </a:r>
            <a:r>
              <a:rPr lang="en-US" dirty="0"/>
              <a:t> 2015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“</a:t>
            </a:r>
            <a:r>
              <a:rPr lang="en-US" b="1" dirty="0"/>
              <a:t>A Closer Look at Memorization in Deep Networks</a:t>
            </a:r>
            <a:r>
              <a:rPr lang="en-US" dirty="0"/>
              <a:t>” (2017)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“</a:t>
            </a:r>
            <a:r>
              <a:rPr lang="en-US" b="1" dirty="0"/>
              <a:t>ANDERSTANDING DEEP LEARNING REQUIRES RETHINKING GENERALIZATION</a:t>
            </a:r>
            <a:r>
              <a:rPr lang="en-US" dirty="0"/>
              <a:t>” </a:t>
            </a:r>
            <a:r>
              <a:rPr lang="en-US" dirty="0" err="1"/>
              <a:t>Chiyuan</a:t>
            </a:r>
            <a:r>
              <a:rPr lang="en-US" dirty="0"/>
              <a:t> Zhang (2017)</a:t>
            </a:r>
            <a:endParaRPr lang="en-IL" dirty="0"/>
          </a:p>
          <a:p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EBA72-5CAB-3AE5-E6ED-7962C0A587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347" y="5143937"/>
            <a:ext cx="2911092" cy="586791"/>
          </a:xfrm>
          <a:prstGeom prst="rect">
            <a:avLst/>
          </a:prstGeom>
        </p:spPr>
      </p:pic>
      <p:pic>
        <p:nvPicPr>
          <p:cNvPr id="1032" name="Picture 8" descr="GitHub logo PNG">
            <a:extLst>
              <a:ext uri="{FF2B5EF4-FFF2-40B4-BE49-F238E27FC236}">
                <a16:creationId xmlns:a16="http://schemas.microsoft.com/office/drawing/2014/main" id="{60C0C711-1954-EDE9-9B2F-0D409928B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806" y="3118392"/>
            <a:ext cx="1148998" cy="114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7168D2-6737-E1A3-13D6-DBB4463D2B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955" y="1339628"/>
            <a:ext cx="1633026" cy="708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262C04-33A3-6481-76B7-174F921CB6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955" y="2633781"/>
            <a:ext cx="1379259" cy="7662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548363-E7FC-F002-D676-F1C6F4AAEA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9358" y="4367874"/>
            <a:ext cx="1531753" cy="1638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AB412F-DF29-7E95-0C70-A9E6D8B08640}"/>
              </a:ext>
            </a:extLst>
          </p:cNvPr>
          <p:cNvSpPr txBox="1"/>
          <p:nvPr/>
        </p:nvSpPr>
        <p:spPr>
          <a:xfrm>
            <a:off x="227191" y="6134019"/>
            <a:ext cx="6440129" cy="465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Neural Networks and Deep Learning by </a:t>
            </a:r>
            <a:r>
              <a:rPr lang="en-US" b="0" i="0" u="none" strike="noStrike" dirty="0">
                <a:solidFill>
                  <a:srgbClr val="2A6EA6"/>
                </a:solidFill>
                <a:effectLst/>
                <a:latin typeface="Georgia" panose="02040502050405020303" pitchFamily="18" charset="0"/>
                <a:hlinkClick r:id="rId11"/>
              </a:rPr>
              <a:t>Michael Nielsen</a:t>
            </a:r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02039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7 Amazing Healthcare Technology Advances of 2017">
            <a:extLst>
              <a:ext uri="{FF2B5EF4-FFF2-40B4-BE49-F238E27FC236}">
                <a16:creationId xmlns:a16="http://schemas.microsoft.com/office/drawing/2014/main" id="{FD11D0B0-FC6C-BB5F-155F-B63510624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" r="-1" b="5877"/>
          <a:stretch/>
        </p:blipFill>
        <p:spPr bwMode="auto">
          <a:xfrm>
            <a:off x="307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D6DEC-F157-94A8-3A9E-D42BECE37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665" y="429614"/>
            <a:ext cx="10176387" cy="2429090"/>
          </a:xfrm>
        </p:spPr>
        <p:txBody>
          <a:bodyPr>
            <a:normAutofit/>
          </a:bodyPr>
          <a:lstStyle/>
          <a:p>
            <a:r>
              <a:rPr lang="en-IL" altLang="en-IL" sz="5400" b="1" dirty="0">
                <a:solidFill>
                  <a:schemeClr val="bg1"/>
                </a:solidFill>
                <a:latin typeface="Poppins" panose="00000500000000000000" pitchFamily="2" charset="0"/>
              </a:rPr>
              <a:t>Multimodal Learning for </a:t>
            </a:r>
            <a:br>
              <a:rPr lang="en-US" altLang="en-IL" sz="5400" b="1" dirty="0">
                <a:solidFill>
                  <a:schemeClr val="bg1"/>
                </a:solidFill>
                <a:latin typeface="Poppins" panose="00000500000000000000" pitchFamily="2" charset="0"/>
              </a:rPr>
            </a:br>
            <a:r>
              <a:rPr lang="en-IL" altLang="en-IL" sz="5400" b="1" dirty="0">
                <a:solidFill>
                  <a:schemeClr val="bg1"/>
                </a:solidFill>
                <a:latin typeface="Poppins" panose="00000500000000000000" pitchFamily="2" charset="0"/>
              </a:rPr>
              <a:t>Clear Cell Renal Cell Carcinoma</a:t>
            </a:r>
            <a:endParaRPr lang="en-IL" sz="5100" dirty="0">
              <a:solidFill>
                <a:schemeClr val="bg1"/>
              </a:solidFill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85CB07-80E2-2B0F-F426-8D58E98D5C9F}"/>
              </a:ext>
            </a:extLst>
          </p:cNvPr>
          <p:cNvSpPr txBox="1">
            <a:spLocks/>
          </p:cNvSpPr>
          <p:nvPr/>
        </p:nvSpPr>
        <p:spPr>
          <a:xfrm>
            <a:off x="835664" y="2858704"/>
            <a:ext cx="10176387" cy="14293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solidFill>
                  <a:schemeClr val="bg1"/>
                </a:solidFill>
              </a:rPr>
              <a:t>THANKS !</a:t>
            </a:r>
            <a:endParaRPr lang="en-IL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96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43823</TotalTime>
  <Words>1936</Words>
  <Application>Microsoft Office PowerPoint</Application>
  <PresentationFormat>Widescreen</PresentationFormat>
  <Paragraphs>402</Paragraphs>
  <Slides>31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Aptos</vt:lpstr>
      <vt:lpstr>Aptos Display</vt:lpstr>
      <vt:lpstr>Arial</vt:lpstr>
      <vt:lpstr>Arial Unicode MS</vt:lpstr>
      <vt:lpstr>Cambria Math</vt:lpstr>
      <vt:lpstr>Courier New</vt:lpstr>
      <vt:lpstr>Georgia</vt:lpstr>
      <vt:lpstr>Poppins</vt:lpstr>
      <vt:lpstr>Roboto</vt:lpstr>
      <vt:lpstr>Wingdings</vt:lpstr>
      <vt:lpstr>Office Theme</vt:lpstr>
      <vt:lpstr>1_Office Theme</vt:lpstr>
      <vt:lpstr>Multimodal Learning for  Clear Cell Renal Cell Carcinoma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Multimodal Learning for  Clear Cell Renal Cell Carcinoma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yona el bar</dc:creator>
  <cp:lastModifiedBy>יונה אל בר</cp:lastModifiedBy>
  <cp:revision>173</cp:revision>
  <dcterms:created xsi:type="dcterms:W3CDTF">2024-10-06T10:45:39Z</dcterms:created>
  <dcterms:modified xsi:type="dcterms:W3CDTF">2026-04-26T14:40:40Z</dcterms:modified>
</cp:coreProperties>
</file>